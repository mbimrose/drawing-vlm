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Best-of-8 e55 generations on the synthetic test pool; the generation shown is the medoid (consistency vote). IoU = exact volumetric IoU vs ground truth; agreement = medoid's mean pairwise IoU with the other executing candidates.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Best-of-8 e55 generations on the synthetic test pool; the generation shown is the medoid (consistency vote). IoU = exact volumetric IoU vs ground truth; agreement = medoid's mean pairwise IoU with the other executing candidates.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8638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Complex Test Parts</a:t>
            </a:r>
            <a:endParaRPr lang="en-US" sz="3200" dirty="0"/>
          </a:p>
        </p:txBody>
      </p:sp>
      <p:sp>
        <p:nvSpPr>
          <p:cNvPr id="3" name="legend Ground truth"/>
          <p:cNvSpPr/>
          <p:nvPr/>
        </p:nvSpPr>
        <p:spPr>
          <a:xfrm>
            <a:off x="8732520" y="512064"/>
            <a:ext cx="201168" cy="2011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legend Ground truth text"/>
          <p:cNvSpPr txBox="1"/>
          <p:nvPr/>
        </p:nvSpPr>
        <p:spPr>
          <a:xfrm>
            <a:off x="9006840" y="4297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Ground truth</a:t>
            </a:r>
            <a:endParaRPr lang="en-US" sz="1400" dirty="0"/>
          </a:p>
        </p:txBody>
      </p:sp>
      <p:sp>
        <p:nvSpPr>
          <p:cNvPr id="5" name="legend Generation"/>
          <p:cNvSpPr/>
          <p:nvPr/>
        </p:nvSpPr>
        <p:spPr>
          <a:xfrm>
            <a:off x="10424160" y="512064"/>
            <a:ext cx="201168" cy="2011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legend Generation text"/>
          <p:cNvSpPr txBox="1"/>
          <p:nvPr/>
        </p:nvSpPr>
        <p:spPr>
          <a:xfrm>
            <a:off x="10698480" y="4297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Generation</a:t>
            </a:r>
            <a:endParaRPr lang="en-US" sz="1400" dirty="0"/>
          </a:p>
        </p:txBody>
      </p:sp>
      <p:sp>
        <p:nvSpPr>
          <p:cNvPr id="7" name="6989952c name"/>
          <p:cNvSpPr txBox="1"/>
          <p:nvPr/>
        </p:nvSpPr>
        <p:spPr>
          <a:xfrm>
            <a:off x="457200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Double-flanged spool</a:t>
            </a:r>
            <a:endParaRPr lang="en-US" sz="1500" dirty="0"/>
          </a:p>
        </p:txBody>
      </p:sp>
      <p:pic>
        <p:nvPicPr>
          <p:cNvPr id="8" name="6989952c drawing" descr="Input drawing, Double-flanged spo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7722"/>
            <a:ext cx="2697480" cy="1542316"/>
          </a:xfrm>
          <a:prstGeom prst="rect">
            <a:avLst/>
          </a:prstGeom>
        </p:spPr>
      </p:pic>
      <p:pic>
        <p:nvPicPr>
          <p:cNvPr id="9" name="6989952c ground truth" descr="Ground-truth solid, Double-flanged spo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754" y="1554480"/>
            <a:ext cx="655411" cy="868680"/>
          </a:xfrm>
          <a:prstGeom prst="rect">
            <a:avLst/>
          </a:prstGeom>
        </p:spPr>
      </p:pic>
      <p:pic>
        <p:nvPicPr>
          <p:cNvPr id="10" name="6989952c generation" descr="Generated solid, Double-flanged spo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361" y="2514600"/>
            <a:ext cx="656197" cy="868680"/>
          </a:xfrm>
          <a:prstGeom prst="rect">
            <a:avLst/>
          </a:prstGeom>
        </p:spPr>
      </p:pic>
      <p:sp>
        <p:nvSpPr>
          <p:cNvPr id="11" name="6989952c metrics"/>
          <p:cNvSpPr txBox="1"/>
          <p:nvPr/>
        </p:nvSpPr>
        <p:spPr>
          <a:xfrm>
            <a:off x="457200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1.000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agreement 0.99  ·  5/8 executed</a:t>
            </a:r>
            <a:endParaRPr lang="en-US" sz="1200" dirty="0"/>
          </a:p>
        </p:txBody>
      </p:sp>
      <p:sp>
        <p:nvSpPr>
          <p:cNvPr id="12" name="1fbfa3c8 name"/>
          <p:cNvSpPr txBox="1"/>
          <p:nvPr/>
        </p:nvSpPr>
        <p:spPr>
          <a:xfrm>
            <a:off x="4265676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Flanged hub</a:t>
            </a:r>
            <a:endParaRPr lang="en-US" sz="1500" dirty="0"/>
          </a:p>
        </p:txBody>
      </p:sp>
      <p:pic>
        <p:nvPicPr>
          <p:cNvPr id="13" name="1fbfa3c8 drawing" descr="Input drawing, Flanged hu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676" y="1663885"/>
            <a:ext cx="2697480" cy="1609990"/>
          </a:xfrm>
          <a:prstGeom prst="rect">
            <a:avLst/>
          </a:prstGeom>
        </p:spPr>
      </p:pic>
      <p:pic>
        <p:nvPicPr>
          <p:cNvPr id="14" name="1fbfa3c8 ground truth" descr="Ground-truth solid, Flanged hu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596" y="1661635"/>
            <a:ext cx="868680" cy="654371"/>
          </a:xfrm>
          <a:prstGeom prst="rect">
            <a:avLst/>
          </a:prstGeom>
        </p:spPr>
      </p:pic>
      <p:pic>
        <p:nvPicPr>
          <p:cNvPr id="15" name="1fbfa3c8 generation" descr="Generated solid, Flanged hu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596" y="2621755"/>
            <a:ext cx="868680" cy="654371"/>
          </a:xfrm>
          <a:prstGeom prst="rect">
            <a:avLst/>
          </a:prstGeom>
        </p:spPr>
      </p:pic>
      <p:sp>
        <p:nvSpPr>
          <p:cNvPr id="16" name="1fbfa3c8 metrics"/>
          <p:cNvSpPr txBox="1"/>
          <p:nvPr/>
        </p:nvSpPr>
        <p:spPr>
          <a:xfrm>
            <a:off x="4265676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1.000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agreement 0.91  ·  7/8 executed</a:t>
            </a:r>
            <a:endParaRPr lang="en-US" sz="1200" dirty="0"/>
          </a:p>
        </p:txBody>
      </p:sp>
      <p:sp>
        <p:nvSpPr>
          <p:cNvPr id="17" name="9ca41004 name"/>
          <p:cNvSpPr txBox="1"/>
          <p:nvPr/>
        </p:nvSpPr>
        <p:spPr>
          <a:xfrm>
            <a:off x="8074152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Slotted shaft on mounting plate</a:t>
            </a:r>
            <a:endParaRPr lang="en-US" sz="1500" dirty="0"/>
          </a:p>
        </p:txBody>
      </p:sp>
      <p:pic>
        <p:nvPicPr>
          <p:cNvPr id="18" name="9ca41004 drawing" descr="Input drawing, Slotted shaft on mounting pla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4152" y="1633384"/>
            <a:ext cx="2697480" cy="1670991"/>
          </a:xfrm>
          <a:prstGeom prst="rect">
            <a:avLst/>
          </a:prstGeom>
        </p:spPr>
      </p:pic>
      <p:pic>
        <p:nvPicPr>
          <p:cNvPr id="19" name="9ca41004 ground truth" descr="Ground-truth solid, Slotted shaft on mounting plat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9159" y="1554480"/>
            <a:ext cx="836507" cy="868680"/>
          </a:xfrm>
          <a:prstGeom prst="rect">
            <a:avLst/>
          </a:prstGeom>
        </p:spPr>
      </p:pic>
      <p:pic>
        <p:nvPicPr>
          <p:cNvPr id="20" name="9ca41004 generation" descr="Generated solid, Slotted shaft on mounting plat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79159" y="2514600"/>
            <a:ext cx="836507" cy="868680"/>
          </a:xfrm>
          <a:prstGeom prst="rect">
            <a:avLst/>
          </a:prstGeom>
        </p:spPr>
      </p:pic>
      <p:sp>
        <p:nvSpPr>
          <p:cNvPr id="21" name="9ca41004 metrics"/>
          <p:cNvSpPr txBox="1"/>
          <p:nvPr/>
        </p:nvSpPr>
        <p:spPr>
          <a:xfrm>
            <a:off x="8074152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1.000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agreement 0.47  ·  8/8 executed</a:t>
            </a:r>
            <a:endParaRPr lang="en-US" sz="1200" dirty="0"/>
          </a:p>
        </p:txBody>
      </p:sp>
      <p:sp>
        <p:nvSpPr>
          <p:cNvPr id="22" name="390dc972 name"/>
          <p:cNvSpPr txBox="1"/>
          <p:nvPr/>
        </p:nvSpPr>
        <p:spPr>
          <a:xfrm>
            <a:off x="457200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Flanged bushing</a:t>
            </a:r>
            <a:endParaRPr lang="en-US" sz="1500" dirty="0"/>
          </a:p>
        </p:txBody>
      </p:sp>
      <p:pic>
        <p:nvPicPr>
          <p:cNvPr id="23" name="390dc972 drawing" descr="Input drawing, Flanged bushi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679" y="4251960"/>
            <a:ext cx="2638521" cy="1828800"/>
          </a:xfrm>
          <a:prstGeom prst="rect">
            <a:avLst/>
          </a:prstGeom>
        </p:spPr>
      </p:pic>
      <p:pic>
        <p:nvPicPr>
          <p:cNvPr id="24" name="390dc972 ground truth" descr="Ground-truth solid, Flanged bushi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0605" y="4251960"/>
            <a:ext cx="619709" cy="868680"/>
          </a:xfrm>
          <a:prstGeom prst="rect">
            <a:avLst/>
          </a:prstGeom>
        </p:spPr>
      </p:pic>
      <p:pic>
        <p:nvPicPr>
          <p:cNvPr id="25" name="390dc972 generation" descr="Generated solid, Flanged bushi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70605" y="5212080"/>
            <a:ext cx="619709" cy="868680"/>
          </a:xfrm>
          <a:prstGeom prst="rect">
            <a:avLst/>
          </a:prstGeom>
        </p:spPr>
      </p:pic>
      <p:sp>
        <p:nvSpPr>
          <p:cNvPr id="26" name="390dc972 metrics"/>
          <p:cNvSpPr txBox="1"/>
          <p:nvPr/>
        </p:nvSpPr>
        <p:spPr>
          <a:xfrm>
            <a:off x="457200" y="6135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1.000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agreement 0.94  ·  8/8 executed</a:t>
            </a:r>
            <a:endParaRPr lang="en-US" sz="1200" dirty="0"/>
          </a:p>
        </p:txBody>
      </p:sp>
      <p:sp>
        <p:nvSpPr>
          <p:cNvPr id="27" name="40a1be28 name"/>
          <p:cNvSpPr txBox="1"/>
          <p:nvPr/>
        </p:nvSpPr>
        <p:spPr>
          <a:xfrm>
            <a:off x="4265676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Flared pedestal mount</a:t>
            </a:r>
            <a:endParaRPr lang="en-US" sz="1500" dirty="0"/>
          </a:p>
        </p:txBody>
      </p:sp>
      <p:pic>
        <p:nvPicPr>
          <p:cNvPr id="28" name="40a1be28 drawing" descr="Input drawing, Flared pedestal moun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83509" y="4251960"/>
            <a:ext cx="2661814" cy="1828800"/>
          </a:xfrm>
          <a:prstGeom prst="rect">
            <a:avLst/>
          </a:prstGeom>
        </p:spPr>
      </p:pic>
      <p:pic>
        <p:nvPicPr>
          <p:cNvPr id="29" name="40a1be28 ground truth" descr="Ground-truth solid, Flared pedestal moun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4596" y="4316981"/>
            <a:ext cx="868680" cy="738638"/>
          </a:xfrm>
          <a:prstGeom prst="rect">
            <a:avLst/>
          </a:prstGeom>
        </p:spPr>
      </p:pic>
      <p:pic>
        <p:nvPicPr>
          <p:cNvPr id="30" name="40a1be28 generation" descr="Generated solid, Flared pedestal mount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54596" y="5277101"/>
            <a:ext cx="868680" cy="738638"/>
          </a:xfrm>
          <a:prstGeom prst="rect">
            <a:avLst/>
          </a:prstGeom>
        </p:spPr>
      </p:pic>
      <p:sp>
        <p:nvSpPr>
          <p:cNvPr id="31" name="40a1be28 metrics"/>
          <p:cNvSpPr txBox="1"/>
          <p:nvPr/>
        </p:nvSpPr>
        <p:spPr>
          <a:xfrm>
            <a:off x="4265676" y="6135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0.989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agreement 0.64  ·  7/8 executed</a:t>
            </a:r>
            <a:endParaRPr lang="en-US" sz="1200" dirty="0"/>
          </a:p>
        </p:txBody>
      </p:sp>
      <p:sp>
        <p:nvSpPr>
          <p:cNvPr id="32" name="2a127616 name"/>
          <p:cNvSpPr txBox="1"/>
          <p:nvPr/>
        </p:nvSpPr>
        <p:spPr>
          <a:xfrm>
            <a:off x="8074152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Splined hub on shaft</a:t>
            </a:r>
            <a:endParaRPr lang="en-US" sz="1500" dirty="0"/>
          </a:p>
        </p:txBody>
      </p:sp>
      <p:pic>
        <p:nvPicPr>
          <p:cNvPr id="33" name="2a127616 drawing" descr="Input drawing, Splined hub on shaft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4152" y="4307473"/>
            <a:ext cx="2697480" cy="1717774"/>
          </a:xfrm>
          <a:prstGeom prst="rect">
            <a:avLst/>
          </a:prstGeom>
        </p:spPr>
      </p:pic>
      <p:pic>
        <p:nvPicPr>
          <p:cNvPr id="34" name="2a127616 ground truth" descr="Ground-truth solid, Splined hub on shaft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23275" y="4251960"/>
            <a:ext cx="548275" cy="868680"/>
          </a:xfrm>
          <a:prstGeom prst="rect">
            <a:avLst/>
          </a:prstGeom>
        </p:spPr>
      </p:pic>
      <p:pic>
        <p:nvPicPr>
          <p:cNvPr id="35" name="2a127616 generation" descr="Generated solid, Splined hub on shaft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23275" y="5212080"/>
            <a:ext cx="548275" cy="868680"/>
          </a:xfrm>
          <a:prstGeom prst="rect">
            <a:avLst/>
          </a:prstGeom>
        </p:spPr>
      </p:pic>
      <p:sp>
        <p:nvSpPr>
          <p:cNvPr id="36" name="2a127616 metrics"/>
          <p:cNvSpPr txBox="1"/>
          <p:nvPr/>
        </p:nvSpPr>
        <p:spPr>
          <a:xfrm>
            <a:off x="8074152" y="6135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1.000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agreement 0.80  ·  6/8 executed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Complex Test Parts (continued)</a:t>
            </a:r>
            <a:endParaRPr lang="en-US" sz="3200" dirty="0"/>
          </a:p>
        </p:txBody>
      </p:sp>
      <p:sp>
        <p:nvSpPr>
          <p:cNvPr id="3" name="legend Ground truth"/>
          <p:cNvSpPr/>
          <p:nvPr/>
        </p:nvSpPr>
        <p:spPr>
          <a:xfrm>
            <a:off x="8732520" y="512064"/>
            <a:ext cx="201168" cy="2011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legend Ground truth text"/>
          <p:cNvSpPr txBox="1"/>
          <p:nvPr/>
        </p:nvSpPr>
        <p:spPr>
          <a:xfrm>
            <a:off x="9006840" y="4297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Ground truth</a:t>
            </a:r>
            <a:endParaRPr lang="en-US" sz="1400" dirty="0"/>
          </a:p>
        </p:txBody>
      </p:sp>
      <p:sp>
        <p:nvSpPr>
          <p:cNvPr id="5" name="legend Generation"/>
          <p:cNvSpPr/>
          <p:nvPr/>
        </p:nvSpPr>
        <p:spPr>
          <a:xfrm>
            <a:off x="10424160" y="512064"/>
            <a:ext cx="201168" cy="2011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legend Generation text"/>
          <p:cNvSpPr txBox="1"/>
          <p:nvPr/>
        </p:nvSpPr>
        <p:spPr>
          <a:xfrm>
            <a:off x="10698480" y="4297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Generation</a:t>
            </a:r>
            <a:endParaRPr lang="en-US" sz="1400" dirty="0"/>
          </a:p>
        </p:txBody>
      </p:sp>
      <p:sp>
        <p:nvSpPr>
          <p:cNvPr id="7" name="475993e4 name"/>
          <p:cNvSpPr txBox="1"/>
          <p:nvPr/>
        </p:nvSpPr>
        <p:spPr>
          <a:xfrm>
            <a:off x="457200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Lofted hopper with rib and boss</a:t>
            </a:r>
            <a:endParaRPr lang="en-US" sz="1500" dirty="0"/>
          </a:p>
        </p:txBody>
      </p:sp>
      <p:pic>
        <p:nvPicPr>
          <p:cNvPr id="8" name="475993e4 drawing" descr="Input drawing, Lofted hopper with rib and b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93909"/>
            <a:ext cx="2697480" cy="1749942"/>
          </a:xfrm>
          <a:prstGeom prst="rect">
            <a:avLst/>
          </a:prstGeom>
        </p:spPr>
      </p:pic>
      <p:pic>
        <p:nvPicPr>
          <p:cNvPr id="9" name="475993e4 ground truth" descr="Ground-truth solid, Lofted hopper with rib and bo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732377"/>
            <a:ext cx="868680" cy="512885"/>
          </a:xfrm>
          <a:prstGeom prst="rect">
            <a:avLst/>
          </a:prstGeom>
        </p:spPr>
      </p:pic>
      <p:pic>
        <p:nvPicPr>
          <p:cNvPr id="10" name="475993e4 generation" descr="Generated solid, Lofted hopper with rib and bo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692497"/>
            <a:ext cx="868680" cy="512885"/>
          </a:xfrm>
          <a:prstGeom prst="rect">
            <a:avLst/>
          </a:prstGeom>
        </p:spPr>
      </p:pic>
      <p:sp>
        <p:nvSpPr>
          <p:cNvPr id="11" name="475993e4 metrics"/>
          <p:cNvSpPr txBox="1"/>
          <p:nvPr/>
        </p:nvSpPr>
        <p:spPr>
          <a:xfrm>
            <a:off x="457200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0.965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agreement 0.97  ·  7/8 executed</a:t>
            </a:r>
            <a:endParaRPr lang="en-US" sz="1200" dirty="0"/>
          </a:p>
        </p:txBody>
      </p:sp>
      <p:sp>
        <p:nvSpPr>
          <p:cNvPr id="12" name="232ebd96 name"/>
          <p:cNvSpPr txBox="1"/>
          <p:nvPr/>
        </p:nvSpPr>
        <p:spPr>
          <a:xfrm>
            <a:off x="4265676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L-arm with bored boss</a:t>
            </a:r>
            <a:endParaRPr lang="en-US" sz="1500" dirty="0"/>
          </a:p>
        </p:txBody>
      </p:sp>
      <p:pic>
        <p:nvPicPr>
          <p:cNvPr id="13" name="232ebd96 drawing" descr="Input drawing, L-arm with bored bo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676" y="1759100"/>
            <a:ext cx="2697480" cy="1419561"/>
          </a:xfrm>
          <a:prstGeom prst="rect">
            <a:avLst/>
          </a:prstGeom>
        </p:spPr>
      </p:pic>
      <p:pic>
        <p:nvPicPr>
          <p:cNvPr id="14" name="232ebd96 ground truth" descr="Ground-truth solid, L-arm with bored bos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596" y="1628597"/>
            <a:ext cx="868680" cy="720447"/>
          </a:xfrm>
          <a:prstGeom prst="rect">
            <a:avLst/>
          </a:prstGeom>
        </p:spPr>
      </p:pic>
      <p:pic>
        <p:nvPicPr>
          <p:cNvPr id="15" name="232ebd96 generation" descr="Generated solid, L-arm with bored bo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596" y="2588717"/>
            <a:ext cx="868680" cy="720447"/>
          </a:xfrm>
          <a:prstGeom prst="rect">
            <a:avLst/>
          </a:prstGeom>
        </p:spPr>
      </p:pic>
      <p:sp>
        <p:nvSpPr>
          <p:cNvPr id="16" name="232ebd96 metrics"/>
          <p:cNvSpPr txBox="1"/>
          <p:nvPr/>
        </p:nvSpPr>
        <p:spPr>
          <a:xfrm>
            <a:off x="4265676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0.963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agreement 0.69  ·  5/8 executed</a:t>
            </a:r>
            <a:endParaRPr lang="en-US" sz="1200" dirty="0"/>
          </a:p>
        </p:txBody>
      </p:sp>
      <p:sp>
        <p:nvSpPr>
          <p:cNvPr id="17" name="a2f71172 name"/>
          <p:cNvSpPr txBox="1"/>
          <p:nvPr/>
        </p:nvSpPr>
        <p:spPr>
          <a:xfrm>
            <a:off x="8074152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Bolted hub housing</a:t>
            </a:r>
            <a:endParaRPr lang="en-US" sz="1500" dirty="0"/>
          </a:p>
        </p:txBody>
      </p:sp>
      <p:pic>
        <p:nvPicPr>
          <p:cNvPr id="18" name="a2f71172 drawing" descr="Input drawing, Bolted hub hous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4152" y="1732657"/>
            <a:ext cx="2697480" cy="1472446"/>
          </a:xfrm>
          <a:prstGeom prst="rect">
            <a:avLst/>
          </a:prstGeom>
        </p:spPr>
      </p:pic>
      <p:pic>
        <p:nvPicPr>
          <p:cNvPr id="19" name="a2f71172 ground truth" descr="Ground-truth solid, Bolted hub housi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2" y="1566576"/>
            <a:ext cx="868680" cy="844489"/>
          </a:xfrm>
          <a:prstGeom prst="rect">
            <a:avLst/>
          </a:prstGeom>
        </p:spPr>
      </p:pic>
      <p:pic>
        <p:nvPicPr>
          <p:cNvPr id="20" name="a2f71172 generation" descr="Generated solid, Bolted hub housi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3072" y="2526696"/>
            <a:ext cx="868680" cy="844489"/>
          </a:xfrm>
          <a:prstGeom prst="rect">
            <a:avLst/>
          </a:prstGeom>
        </p:spPr>
      </p:pic>
      <p:sp>
        <p:nvSpPr>
          <p:cNvPr id="21" name="a2f71172 metrics"/>
          <p:cNvSpPr txBox="1"/>
          <p:nvPr/>
        </p:nvSpPr>
        <p:spPr>
          <a:xfrm>
            <a:off x="8074152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1.000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agreement 0.97  ·  8/8 executed</a:t>
            </a:r>
            <a:endParaRPr lang="en-US" sz="1200" dirty="0"/>
          </a:p>
        </p:txBody>
      </p:sp>
      <p:sp>
        <p:nvSpPr>
          <p:cNvPr id="22" name="0264f04e name"/>
          <p:cNvSpPr txBox="1"/>
          <p:nvPr/>
        </p:nvSpPr>
        <p:spPr>
          <a:xfrm>
            <a:off x="457200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Stepped tower with flange</a:t>
            </a:r>
            <a:endParaRPr lang="en-US" sz="1500" dirty="0"/>
          </a:p>
        </p:txBody>
      </p:sp>
      <p:pic>
        <p:nvPicPr>
          <p:cNvPr id="23" name="0264f04e drawing" descr="Input drawing, Stepped tower with flang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291217"/>
            <a:ext cx="2697480" cy="1750286"/>
          </a:xfrm>
          <a:prstGeom prst="rect">
            <a:avLst/>
          </a:prstGeom>
        </p:spPr>
      </p:pic>
      <p:pic>
        <p:nvPicPr>
          <p:cNvPr id="24" name="0264f04e ground truth" descr="Ground-truth solid, Stepped tower with flang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2568" y="4251960"/>
            <a:ext cx="815783" cy="868680"/>
          </a:xfrm>
          <a:prstGeom prst="rect">
            <a:avLst/>
          </a:prstGeom>
        </p:spPr>
      </p:pic>
      <p:pic>
        <p:nvPicPr>
          <p:cNvPr id="25" name="0264f04e generation" descr="Generated solid, Stepped tower with flang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65836" y="5212080"/>
            <a:ext cx="829249" cy="868680"/>
          </a:xfrm>
          <a:prstGeom prst="rect">
            <a:avLst/>
          </a:prstGeom>
        </p:spPr>
      </p:pic>
      <p:sp>
        <p:nvSpPr>
          <p:cNvPr id="26" name="0264f04e metrics"/>
          <p:cNvSpPr txBox="1"/>
          <p:nvPr/>
        </p:nvSpPr>
        <p:spPr>
          <a:xfrm>
            <a:off x="457200" y="6135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0.975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agreement 0.96  ·  8/8 executed</a:t>
            </a:r>
            <a:endParaRPr lang="en-US" sz="1200" dirty="0"/>
          </a:p>
        </p:txBody>
      </p:sp>
      <p:sp>
        <p:nvSpPr>
          <p:cNvPr id="27" name="8f00d7de name"/>
          <p:cNvSpPr txBox="1"/>
          <p:nvPr/>
        </p:nvSpPr>
        <p:spPr>
          <a:xfrm>
            <a:off x="4265676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Cone-tipped spike on plate</a:t>
            </a:r>
            <a:endParaRPr lang="en-US" sz="1500" dirty="0"/>
          </a:p>
        </p:txBody>
      </p:sp>
      <p:pic>
        <p:nvPicPr>
          <p:cNvPr id="28" name="8f00d7de drawing" descr="Input drawing, Cone-tipped spike on plat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2060" y="4251960"/>
            <a:ext cx="2624712" cy="1828800"/>
          </a:xfrm>
          <a:prstGeom prst="rect">
            <a:avLst/>
          </a:prstGeom>
        </p:spPr>
      </p:pic>
      <p:pic>
        <p:nvPicPr>
          <p:cNvPr id="29" name="8f00d7de ground truth" descr="Ground-truth solid, Cone-tipped spike on plat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30743" y="4251960"/>
            <a:ext cx="716387" cy="868680"/>
          </a:xfrm>
          <a:prstGeom prst="rect">
            <a:avLst/>
          </a:prstGeom>
        </p:spPr>
      </p:pic>
      <p:pic>
        <p:nvPicPr>
          <p:cNvPr id="30" name="8f00d7de generation" descr="Generated solid, Cone-tipped spike on plat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30743" y="5212080"/>
            <a:ext cx="716387" cy="868680"/>
          </a:xfrm>
          <a:prstGeom prst="rect">
            <a:avLst/>
          </a:prstGeom>
        </p:spPr>
      </p:pic>
      <p:sp>
        <p:nvSpPr>
          <p:cNvPr id="31" name="8f00d7de metrics"/>
          <p:cNvSpPr txBox="1"/>
          <p:nvPr/>
        </p:nvSpPr>
        <p:spPr>
          <a:xfrm>
            <a:off x="4265676" y="6135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1.000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agreement 0.90  ·  8/8 executed</a:t>
            </a:r>
            <a:endParaRPr lang="en-US" sz="1200" dirty="0"/>
          </a:p>
        </p:txBody>
      </p:sp>
      <p:sp>
        <p:nvSpPr>
          <p:cNvPr id="32" name="27676dd6 name"/>
          <p:cNvSpPr txBox="1"/>
          <p:nvPr/>
        </p:nvSpPr>
        <p:spPr>
          <a:xfrm>
            <a:off x="8074152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Grooved spool sleeve</a:t>
            </a:r>
            <a:endParaRPr lang="en-US" sz="1500" dirty="0"/>
          </a:p>
        </p:txBody>
      </p:sp>
      <p:pic>
        <p:nvPicPr>
          <p:cNvPr id="33" name="27676dd6 drawing" descr="Input drawing, Grooved spool sleev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4152" y="4350761"/>
            <a:ext cx="2697480" cy="1631199"/>
          </a:xfrm>
          <a:prstGeom prst="rect">
            <a:avLst/>
          </a:prstGeom>
        </p:spPr>
      </p:pic>
      <p:pic>
        <p:nvPicPr>
          <p:cNvPr id="34" name="27676dd6 ground truth" descr="Ground-truth solid, Grooved spool sleeve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92749" y="4251960"/>
            <a:ext cx="609326" cy="868680"/>
          </a:xfrm>
          <a:prstGeom prst="rect">
            <a:avLst/>
          </a:prstGeom>
        </p:spPr>
      </p:pic>
      <p:pic>
        <p:nvPicPr>
          <p:cNvPr id="35" name="27676dd6 generation" descr="Generated solid, Grooved spool sleeve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80771" y="5212080"/>
            <a:ext cx="633282" cy="868680"/>
          </a:xfrm>
          <a:prstGeom prst="rect">
            <a:avLst/>
          </a:prstGeom>
        </p:spPr>
      </p:pic>
      <p:sp>
        <p:nvSpPr>
          <p:cNvPr id="36" name="27676dd6 metrics"/>
          <p:cNvSpPr txBox="1"/>
          <p:nvPr/>
        </p:nvSpPr>
        <p:spPr>
          <a:xfrm>
            <a:off x="8074152" y="6135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0.956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agreement 0.94  ·  7/8 executed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awing to CAD">
  <a:themeElements>
    <a:clrScheme name="Drawing to CAD">
      <a:dk1>
        <a:srgbClr val="000000"/>
      </a:dk1>
      <a:lt1>
        <a:srgbClr val="FFFFFF"/>
      </a:lt1>
      <a:dk2>
        <a:srgbClr val="13294B"/>
      </a:dk2>
      <a:lt2>
        <a:srgbClr val="F2F2F2"/>
      </a:lt2>
      <a:accent1>
        <a:srgbClr val="2F6FD6"/>
      </a:accent1>
      <a:accent2>
        <a:srgbClr val="8A8F99"/>
      </a:accent2>
      <a:accent3>
        <a:srgbClr val="5A5F69"/>
      </a:accent3>
      <a:accent4>
        <a:srgbClr val="E84A27"/>
      </a:accent4>
      <a:accent5>
        <a:srgbClr val="9FB3D6"/>
      </a:accent5>
      <a:accent6>
        <a:srgbClr val="4D4D4D"/>
      </a:accent6>
      <a:hlink>
        <a:srgbClr val="2F6FD6"/>
      </a:hlink>
      <a:folHlink>
        <a:srgbClr val="5A5F69"/>
      </a:folHlink>
    </a:clrScheme>
    <a:fontScheme name="Drawing to CA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test parts: drawing to generation</dc:title>
  <dc:subject>PptxGenJS Presentation</dc:subject>
  <dc:creator>PptxGenJS</dc:creator>
  <cp:lastModifiedBy>PptxGenJS</cp:lastModifiedBy>
  <cp:revision>1</cp:revision>
  <dcterms:created xsi:type="dcterms:W3CDTF">2026-10-07T17:56:32Z</dcterms:created>
  <dcterms:modified xsi:type="dcterms:W3CDTF">2026-10-07T17:56:32Z</dcterms:modified>
</cp:coreProperties>
</file>