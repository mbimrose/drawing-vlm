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Repair: rp3 LoRA, K=16 draws per round, adopt only when the label-free render-compare score improves by 0.1. Multi-start: 3 chains from the top-3 distinct e55 candidates, final pick by render-compare score. Error bars: SEM over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Real-bench parts. Each image is a program the repair chain adopted (only adopted when the label-free render-compare score improved by 0.1; IoU is computed afterwards against ground truth). Handwheel: chain started from the third-ranked e55 candidate; hex nut: chain started from the e55 medoid 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IoU of the served medoid (best of 8, consistency vote). Face count from the ground-truth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the cluster CPU node (ccc0442), 12 programs in parallel, one subprocess per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time measured with a warm-up run first (the first batch of the original run absorbed a ~1 s cold start; those 12 parts were re-timed).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Lowest-IoU served parts on the synthetic test pool (e55 best of 8, medoid shown). Failure-mode labels are by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Repair Loop on Real Parts</a:t>
            </a:r>
            <a:endParaRPr lang="en-US" sz="3200" dirty="0"/>
          </a:p>
        </p:txBody>
      </p:sp>
      <p:pic>
        <p:nvPicPr>
          <p:cNvPr id="3" name="repair_loop chart" descr="repair lo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43000"/>
            <a:ext cx="5257800" cy="5146473"/>
          </a:xfrm>
          <a:prstGeom prst="rect">
            <a:avLst/>
          </a:prstGeom>
        </p:spPr>
      </p:pic>
      <p:sp>
        <p:nvSpPr>
          <p:cNvPr id="4" name="takeaways"/>
          <p:cNvSpPr txBox="1"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143 held-out real parts (CADBench Fusion 360 + ABC), starting from the e55 medoid pick: mean IoU 0.537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repair round: 0.631, already above the generator's own best of 8 (0.596)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After 6 rounds: 0.667 with one chain, 0.695 with 3 chains (multi-start)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Parts at IoU ≥ 0.85: 19% → 45%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Multi-start final by source: Fusion 360 0.757, ABC 0.598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Repair Loop Example</a:t>
            </a:r>
            <a:endParaRPr lang="en-US" sz="3200" dirty="0"/>
          </a:p>
        </p:txBody>
      </p:sp>
      <p:sp>
        <p:nvSpPr>
          <p:cNvPr id="3" name="F_73525 name"/>
          <p:cNvSpPr txBox="1"/>
          <p:nvPr/>
        </p:nvSpPr>
        <p:spPr>
          <a:xfrm>
            <a:off x="457200" y="11887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Handwheel</a:t>
            </a:r>
            <a:endParaRPr lang="en-US" sz="1500" dirty="0"/>
          </a:p>
        </p:txBody>
      </p:sp>
      <p:pic>
        <p:nvPicPr>
          <p:cNvPr id="4" name="F_73525 drawing" descr="/projects/illinois/eng/ece/wpk/bimrose2/drawing_vlm/results/figures/results_deck/repair_ex/F_73525_draw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6539"/>
            <a:ext cx="2560320" cy="1616122"/>
          </a:xfrm>
          <a:prstGeom prst="rect">
            <a:avLst/>
          </a:prstGeom>
        </p:spPr>
      </p:pic>
      <p:pic>
        <p:nvPicPr>
          <p:cNvPr id="5" name="F_73525 Start  IoU 0.52" descr="/projects/illinois/eng/ece/wpk/bimrose2/drawing_vlm/results/figures/results_deck/repair_ex/F_73525_ste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626" y="1554480"/>
            <a:ext cx="1211508" cy="1600200"/>
          </a:xfrm>
          <a:prstGeom prst="rect">
            <a:avLst/>
          </a:prstGeom>
        </p:spPr>
      </p:pic>
      <p:sp>
        <p:nvSpPr>
          <p:cNvPr id="6" name="F_73525 label 0"/>
          <p:cNvSpPr txBox="1"/>
          <p:nvPr/>
        </p:nvSpPr>
        <p:spPr>
          <a:xfrm>
            <a:off x="3246120" y="3200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  IoU 0.52</a:t>
            </a:r>
            <a:endParaRPr lang="en-US" sz="1200" dirty="0"/>
          </a:p>
        </p:txBody>
      </p:sp>
      <p:sp>
        <p:nvSpPr>
          <p:cNvPr id="7" name="F_73525 arrow 0"/>
          <p:cNvSpPr/>
          <p:nvPr/>
        </p:nvSpPr>
        <p:spPr>
          <a:xfrm>
            <a:off x="5193792" y="2240280"/>
            <a:ext cx="265176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F_73525 Round 1  IoU 0.35" descr="/projects/illinois/eng/ece/wpk/bimrose2/drawing_vlm/results/figures/results_deck/repair_ex/F_73525_step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102" y="1554480"/>
            <a:ext cx="1216556" cy="1600200"/>
          </a:xfrm>
          <a:prstGeom prst="rect">
            <a:avLst/>
          </a:prstGeom>
        </p:spPr>
      </p:pic>
      <p:sp>
        <p:nvSpPr>
          <p:cNvPr id="9" name="F_73525 label 1"/>
          <p:cNvSpPr txBox="1"/>
          <p:nvPr/>
        </p:nvSpPr>
        <p:spPr>
          <a:xfrm>
            <a:off x="5532120" y="3200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Round 1  IoU 0.35</a:t>
            </a:r>
            <a:endParaRPr lang="en-US" sz="1200" dirty="0"/>
          </a:p>
        </p:txBody>
      </p:sp>
      <p:sp>
        <p:nvSpPr>
          <p:cNvPr id="10" name="F_73525 arrow 1"/>
          <p:cNvSpPr/>
          <p:nvPr/>
        </p:nvSpPr>
        <p:spPr>
          <a:xfrm>
            <a:off x="7479792" y="2240280"/>
            <a:ext cx="265176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F_73525 Round 3  IoU 0.93" descr="/projects/illinois/eng/ece/wpk/bimrose2/drawing_vlm/results/figures/results_deck/repair_ex/F_73525_step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102" y="1554480"/>
            <a:ext cx="1216556" cy="1600200"/>
          </a:xfrm>
          <a:prstGeom prst="rect">
            <a:avLst/>
          </a:prstGeom>
        </p:spPr>
      </p:pic>
      <p:sp>
        <p:nvSpPr>
          <p:cNvPr id="12" name="F_73525 label 2"/>
          <p:cNvSpPr txBox="1"/>
          <p:nvPr/>
        </p:nvSpPr>
        <p:spPr>
          <a:xfrm>
            <a:off x="7818120" y="3200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Round 3  IoU 0.93</a:t>
            </a:r>
            <a:endParaRPr lang="en-US" sz="1200" dirty="0"/>
          </a:p>
        </p:txBody>
      </p:sp>
      <p:sp>
        <p:nvSpPr>
          <p:cNvPr id="13" name="F_73525 arrow 2"/>
          <p:cNvSpPr/>
          <p:nvPr/>
        </p:nvSpPr>
        <p:spPr>
          <a:xfrm>
            <a:off x="9765792" y="2240280"/>
            <a:ext cx="265176" cy="23774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F_73525 Ground truth" descr="/projects/illinois/eng/ece/wpk/bimrose2/drawing_vlm/results/figures/results_deck/repair_ex/F_73525_g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4364" y="1554480"/>
            <a:ext cx="1214032" cy="1600200"/>
          </a:xfrm>
          <a:prstGeom prst="rect">
            <a:avLst/>
          </a:prstGeom>
        </p:spPr>
      </p:pic>
      <p:sp>
        <p:nvSpPr>
          <p:cNvPr id="15" name="F_73525 label 3"/>
          <p:cNvSpPr txBox="1"/>
          <p:nvPr/>
        </p:nvSpPr>
        <p:spPr>
          <a:xfrm>
            <a:off x="10104120" y="3200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Ground truth</a:t>
            </a:r>
            <a:endParaRPr lang="en-US" sz="1200" dirty="0"/>
          </a:p>
        </p:txBody>
      </p:sp>
      <p:sp>
        <p:nvSpPr>
          <p:cNvPr id="16" name="F_56468 name"/>
          <p:cNvSpPr txBox="1"/>
          <p:nvPr/>
        </p:nvSpPr>
        <p:spPr>
          <a:xfrm>
            <a:off x="457200" y="3886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Hex nut</a:t>
            </a:r>
            <a:endParaRPr lang="en-US" sz="1500" dirty="0"/>
          </a:p>
        </p:txBody>
      </p:sp>
      <p:pic>
        <p:nvPicPr>
          <p:cNvPr id="17" name="F_56468 drawing" descr="/projects/illinois/eng/ece/wpk/bimrose2/drawing_vlm/results/figures/results_deck/repair_ex/F_56468_draw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97731"/>
            <a:ext cx="2560320" cy="1628698"/>
          </a:xfrm>
          <a:prstGeom prst="rect">
            <a:avLst/>
          </a:prstGeom>
        </p:spPr>
      </p:pic>
      <p:pic>
        <p:nvPicPr>
          <p:cNvPr id="18" name="F_56468 Start  IoU 0.32" descr="/projects/illinois/eng/ece/wpk/bimrose2/drawing_vlm/results/figures/results_deck/repair_ex/F_56468_step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4268850"/>
            <a:ext cx="1874520" cy="1566419"/>
          </a:xfrm>
          <a:prstGeom prst="rect">
            <a:avLst/>
          </a:prstGeom>
        </p:spPr>
      </p:pic>
      <p:sp>
        <p:nvSpPr>
          <p:cNvPr id="19" name="F_56468 label 0"/>
          <p:cNvSpPr txBox="1"/>
          <p:nvPr/>
        </p:nvSpPr>
        <p:spPr>
          <a:xfrm>
            <a:off x="3246120" y="5897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  IoU 0.32</a:t>
            </a:r>
            <a:endParaRPr lang="en-US" sz="1200" dirty="0"/>
          </a:p>
        </p:txBody>
      </p:sp>
      <p:sp>
        <p:nvSpPr>
          <p:cNvPr id="20" name="F_56468 arrow 0"/>
          <p:cNvSpPr/>
          <p:nvPr/>
        </p:nvSpPr>
        <p:spPr>
          <a:xfrm>
            <a:off x="5193792" y="4937760"/>
            <a:ext cx="265176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F_56468 Round 2  IoU 0.58" descr="/projects/illinois/eng/ece/wpk/bimrose2/drawing_vlm/results/figures/results_deck/repair_ex/F_56468_step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169" y="4251960"/>
            <a:ext cx="1402422" cy="1600200"/>
          </a:xfrm>
          <a:prstGeom prst="rect">
            <a:avLst/>
          </a:prstGeom>
        </p:spPr>
      </p:pic>
      <p:sp>
        <p:nvSpPr>
          <p:cNvPr id="22" name="F_56468 label 1"/>
          <p:cNvSpPr txBox="1"/>
          <p:nvPr/>
        </p:nvSpPr>
        <p:spPr>
          <a:xfrm>
            <a:off x="5532120" y="5897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Round 2  IoU 0.58</a:t>
            </a:r>
            <a:endParaRPr lang="en-US" sz="1200" dirty="0"/>
          </a:p>
        </p:txBody>
      </p:sp>
      <p:sp>
        <p:nvSpPr>
          <p:cNvPr id="23" name="F_56468 arrow 1"/>
          <p:cNvSpPr/>
          <p:nvPr/>
        </p:nvSpPr>
        <p:spPr>
          <a:xfrm>
            <a:off x="7479792" y="4937760"/>
            <a:ext cx="265176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4" name="F_56468 Round 5  IoU 0.99" descr="/projects/illinois/eng/ece/wpk/bimrose2/drawing_vlm/results/figures/results_deck/repair_ex/F_56468_step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31" y="4251960"/>
            <a:ext cx="1381699" cy="1600200"/>
          </a:xfrm>
          <a:prstGeom prst="rect">
            <a:avLst/>
          </a:prstGeom>
        </p:spPr>
      </p:pic>
      <p:sp>
        <p:nvSpPr>
          <p:cNvPr id="25" name="F_56468 label 2"/>
          <p:cNvSpPr txBox="1"/>
          <p:nvPr/>
        </p:nvSpPr>
        <p:spPr>
          <a:xfrm>
            <a:off x="7818120" y="5897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Round 5  IoU 0.99</a:t>
            </a:r>
            <a:endParaRPr lang="en-US" sz="1200" dirty="0"/>
          </a:p>
        </p:txBody>
      </p:sp>
      <p:sp>
        <p:nvSpPr>
          <p:cNvPr id="26" name="F_56468 arrow 2"/>
          <p:cNvSpPr/>
          <p:nvPr/>
        </p:nvSpPr>
        <p:spPr>
          <a:xfrm>
            <a:off x="9765792" y="4937760"/>
            <a:ext cx="265176" cy="23774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7" name="F_56468 Ground truth" descr="/projects/illinois/eng/ece/wpk/bimrose2/drawing_vlm/results/figures/results_deck/repair_ex/F_56468_g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2848" y="4251960"/>
            <a:ext cx="1377065" cy="1600200"/>
          </a:xfrm>
          <a:prstGeom prst="rect">
            <a:avLst/>
          </a:prstGeom>
        </p:spPr>
      </p:pic>
      <p:sp>
        <p:nvSpPr>
          <p:cNvPr id="28" name="F_56468 label 3"/>
          <p:cNvSpPr txBox="1"/>
          <p:nvPr/>
        </p:nvSpPr>
        <p:spPr>
          <a:xfrm>
            <a:off x="10104120" y="5897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Ground truth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 Complexity vs Accuracy</a:t>
            </a:r>
            <a:endParaRPr lang="en-US" sz="3200" dirty="0"/>
          </a:p>
        </p:txBody>
      </p:sp>
      <p:pic>
        <p:nvPicPr>
          <p:cNvPr id="3" name="faces_vs_iou chart" descr="faces vs io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43000"/>
            <a:ext cx="5257800" cy="5094182"/>
          </a:xfrm>
          <a:prstGeom prst="rect">
            <a:avLst/>
          </a:prstGeom>
        </p:spPr>
      </p:pic>
      <p:sp>
        <p:nvSpPr>
          <p:cNvPr id="4" name="takeaways"/>
          <p:cNvSpPr txBox="1"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1027 synthetic test parts; complexity = face count of the ground-truth B-rep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Spearman ρ = -0.30 between face count and IoU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≤20 faces (n=366): mean IoU 0.937, 86% at IoU ≥ 0.85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21–32 faces (n=321): mean IoU 0.902, 83% at IoU ≥ 0.85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&gt;32 faces (n=340): mean IoU 0.887, 75% at IoU ≥ 0.85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Program Execution Time</a:t>
            </a:r>
            <a:endParaRPr lang="en-US" sz="3200" dirty="0"/>
          </a:p>
        </p:txBody>
      </p:sp>
      <p:pic>
        <p:nvPicPr>
          <p:cNvPr id="3" name="exectime_vs_iou chart" descr="exectime vs io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43000"/>
            <a:ext cx="5257800" cy="5054856"/>
          </a:xfrm>
          <a:prstGeom prst="rect">
            <a:avLst/>
          </a:prstGeom>
        </p:spPr>
      </p:pic>
      <p:sp>
        <p:nvSpPr>
          <p:cNvPr id="4" name="takeaways"/>
          <p:cNvSpPr txBox="1"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 to execute the served build123d program into a solid (import excluded, STEP export included)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Median 0.12 s, 95th percentile 0.41 s, max 3.3 s (n=1012)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Spearman ρ = -0.28 with IoU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Parts at IoU ≥ 0.85 median 0.11 s vs 0.13 s below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Face Count vs Execution Time</a:t>
            </a:r>
            <a:endParaRPr lang="en-US" sz="3200" dirty="0"/>
          </a:p>
        </p:txBody>
      </p:sp>
      <p:pic>
        <p:nvPicPr>
          <p:cNvPr id="3" name="faces_vs_exectime chart" descr="faces vs exectim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43000"/>
            <a:ext cx="5257800" cy="5146473"/>
          </a:xfrm>
          <a:prstGeom prst="rect">
            <a:avLst/>
          </a:prstGeom>
        </p:spPr>
      </p:pic>
      <p:sp>
        <p:nvSpPr>
          <p:cNvPr id="4" name="takeaways"/>
          <p:cNvSpPr txBox="1"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complexity measures for the 1012 synthetic test parts: ground-truth face count and the served program's execution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Spearman ρ = 0.70, r² = 0.49 on log-log axes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≤20 faces (n=363): median 0.07 s, 95th percentile 0.21 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21–32 faces (n=314): median 0.12 s, 95th percentile 0.24 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33–60 faces (n=238): median 0.16 s, 95th percentile 0.41 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&gt;60 faces (n=97): median 0.27 s, 95th percentile 1.63 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Outliers both ways: some programs with few faces take over a second, and some 100+ face parts build in under 0.1 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Distribution of IoU</a:t>
            </a:r>
            <a:endParaRPr lang="en-US" sz="3200" dirty="0"/>
          </a:p>
        </p:txBody>
      </p:sp>
      <p:pic>
        <p:nvPicPr>
          <p:cNvPr id="3" name="iou_hist chart" descr="iou his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88720"/>
            <a:ext cx="5120640" cy="5036644"/>
          </a:xfrm>
          <a:prstGeom prst="rect">
            <a:avLst/>
          </a:prstGeom>
        </p:spPr>
      </p:pic>
      <p:pic>
        <p:nvPicPr>
          <p:cNvPr id="4" name="iou_survival chart" descr="iou surviv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120640" cy="4958226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1027 synthetic test parts, e55 best of 8. Medoid: mean 0.909, median 0.978, 82% at IoU ≥ 0.85 (first executing draw 76%, oracle 88%)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Failure Cases</a:t>
            </a:r>
            <a:endParaRPr lang="en-US" sz="3200" dirty="0"/>
          </a:p>
        </p:txBody>
      </p:sp>
      <p:sp>
        <p:nvSpPr>
          <p:cNvPr id="3" name="legend Ground truth"/>
          <p:cNvSpPr/>
          <p:nvPr/>
        </p:nvSpPr>
        <p:spPr>
          <a:xfrm>
            <a:off x="8732520" y="512064"/>
            <a:ext cx="201168" cy="20116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06840" y="429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Ground truth</a:t>
            </a:r>
            <a:endParaRPr lang="en-US" sz="1400" dirty="0"/>
          </a:p>
        </p:txBody>
      </p:sp>
      <p:sp>
        <p:nvSpPr>
          <p:cNvPr id="5" name="legend Generation"/>
          <p:cNvSpPr/>
          <p:nvPr/>
        </p:nvSpPr>
        <p:spPr>
          <a:xfrm>
            <a:off x="10424160" y="512064"/>
            <a:ext cx="20116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0" y="4297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7" name="0580ef4e failure mode"/>
          <p:cNvSpPr txBox="1"/>
          <p:nvPr/>
        </p:nvSpPr>
        <p:spPr>
          <a:xfrm>
            <a:off x="457200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Solid read as hollow (8/8 agree)</a:t>
            </a:r>
            <a:endParaRPr lang="en-US" sz="1500" dirty="0"/>
          </a:p>
        </p:txBody>
      </p:sp>
      <p:pic>
        <p:nvPicPr>
          <p:cNvPr id="8" name="0580ef4e drawing" descr="/projects/illinois/eng/ece/wpk/bimrose2/drawing_vlm/results/figures/results_deck/gallery/0580ef4e_draw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2844"/>
            <a:ext cx="2697480" cy="1432072"/>
          </a:xfrm>
          <a:prstGeom prst="rect">
            <a:avLst/>
          </a:prstGeom>
        </p:spPr>
      </p:pic>
      <p:pic>
        <p:nvPicPr>
          <p:cNvPr id="9" name="0580ef4e ground truth" descr="/projects/illinois/eng/ece/wpk/bimrose2/drawing_vlm/results/figures/results_deck/gallery/0580ef4e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032" y="1554480"/>
            <a:ext cx="594857" cy="868680"/>
          </a:xfrm>
          <a:prstGeom prst="rect">
            <a:avLst/>
          </a:prstGeom>
        </p:spPr>
      </p:pic>
      <p:pic>
        <p:nvPicPr>
          <p:cNvPr id="10" name="0580ef4e generation" descr="/projects/illinois/eng/ece/wpk/bimrose2/drawing_vlm/results/figures/results_deck/gallery/0580ef4e_g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984" y="2514600"/>
            <a:ext cx="590953" cy="868680"/>
          </a:xfrm>
          <a:prstGeom prst="rect">
            <a:avLst/>
          </a:prstGeom>
        </p:spPr>
      </p:pic>
      <p:sp>
        <p:nvSpPr>
          <p:cNvPr id="11" name="0580ef4e metrics"/>
          <p:cNvSpPr txBox="1"/>
          <p:nvPr/>
        </p:nvSpPr>
        <p:spPr>
          <a:xfrm>
            <a:off x="45720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0.42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best of 8 0.42  ·  8/8 executed</a:t>
            </a:r>
            <a:endParaRPr lang="en-US" sz="1200" dirty="0"/>
          </a:p>
        </p:txBody>
      </p:sp>
      <p:sp>
        <p:nvSpPr>
          <p:cNvPr id="12" name="02c2c534 failure mode"/>
          <p:cNvSpPr txBox="1"/>
          <p:nvPr/>
        </p:nvSpPr>
        <p:spPr>
          <a:xfrm>
            <a:off x="4265676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Freeform surfaces</a:t>
            </a:r>
            <a:endParaRPr lang="en-US" sz="1500" dirty="0"/>
          </a:p>
        </p:txBody>
      </p:sp>
      <p:pic>
        <p:nvPicPr>
          <p:cNvPr id="13" name="02c2c534 drawing" descr="/projects/illinois/eng/ece/wpk/bimrose2/drawing_vlm/results/figures/results_deck/gallery/02c2c534_draw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676" y="1637592"/>
            <a:ext cx="2697480" cy="1662577"/>
          </a:xfrm>
          <a:prstGeom prst="rect">
            <a:avLst/>
          </a:prstGeom>
        </p:spPr>
      </p:pic>
      <p:pic>
        <p:nvPicPr>
          <p:cNvPr id="14" name="02c2c534 ground truth" descr="/projects/illinois/eng/ece/wpk/bimrose2/drawing_vlm/results/figures/results_deck/gallery/02c2c534_g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358" y="1554480"/>
            <a:ext cx="359155" cy="868680"/>
          </a:xfrm>
          <a:prstGeom prst="rect">
            <a:avLst/>
          </a:prstGeom>
        </p:spPr>
      </p:pic>
      <p:pic>
        <p:nvPicPr>
          <p:cNvPr id="15" name="02c2c534 generation" descr="/projects/illinois/eng/ece/wpk/bimrose2/drawing_vlm/results/figures/results_deck/gallery/02c2c534_g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675" y="2514600"/>
            <a:ext cx="258523" cy="868680"/>
          </a:xfrm>
          <a:prstGeom prst="rect">
            <a:avLst/>
          </a:prstGeom>
        </p:spPr>
      </p:pic>
      <p:sp>
        <p:nvSpPr>
          <p:cNvPr id="16" name="02c2c534 metrics"/>
          <p:cNvSpPr txBox="1"/>
          <p:nvPr/>
        </p:nvSpPr>
        <p:spPr>
          <a:xfrm>
            <a:off x="4265676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0.32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best of 8 0.34  ·  4/8 executed</a:t>
            </a:r>
            <a:endParaRPr lang="en-US" sz="1200" dirty="0"/>
          </a:p>
        </p:txBody>
      </p:sp>
      <p:sp>
        <p:nvSpPr>
          <p:cNvPr id="17" name="64f6f518 failure mode"/>
          <p:cNvSpPr txBox="1"/>
          <p:nvPr/>
        </p:nvSpPr>
        <p:spPr>
          <a:xfrm>
            <a:off x="8074152" y="11887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Wrong base profile</a:t>
            </a:r>
            <a:endParaRPr lang="en-US" sz="1500" dirty="0"/>
          </a:p>
        </p:txBody>
      </p:sp>
      <p:pic>
        <p:nvPicPr>
          <p:cNvPr id="18" name="64f6f518 drawing" descr="/projects/illinois/eng/ece/wpk/bimrose2/drawing_vlm/results/figures/results_deck/gallery/64f6f518_draw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1601893"/>
            <a:ext cx="2697480" cy="1733974"/>
          </a:xfrm>
          <a:prstGeom prst="rect">
            <a:avLst/>
          </a:prstGeom>
        </p:spPr>
      </p:pic>
      <p:pic>
        <p:nvPicPr>
          <p:cNvPr id="19" name="64f6f518 ground truth" descr="/projects/illinois/eng/ece/wpk/bimrose2/drawing_vlm/results/figures/results_deck/gallery/64f6f518_g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1105" y="1554480"/>
            <a:ext cx="572613" cy="868680"/>
          </a:xfrm>
          <a:prstGeom prst="rect">
            <a:avLst/>
          </a:prstGeom>
        </p:spPr>
      </p:pic>
      <p:pic>
        <p:nvPicPr>
          <p:cNvPr id="20" name="64f6f518 generation" descr="/projects/illinois/eng/ece/wpk/bimrose2/drawing_vlm/results/figures/results_deck/gallery/64f6f518_g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6949" y="2514600"/>
            <a:ext cx="660926" cy="868680"/>
          </a:xfrm>
          <a:prstGeom prst="rect">
            <a:avLst/>
          </a:prstGeom>
        </p:spPr>
      </p:pic>
      <p:sp>
        <p:nvSpPr>
          <p:cNvPr id="21" name="64f6f518 metrics"/>
          <p:cNvSpPr txBox="1"/>
          <p:nvPr/>
        </p:nvSpPr>
        <p:spPr>
          <a:xfrm>
            <a:off x="8074152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0.43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best of 8 0.44  ·  5/8 executed</a:t>
            </a:r>
            <a:endParaRPr lang="en-US" sz="1200" dirty="0"/>
          </a:p>
        </p:txBody>
      </p:sp>
      <p:sp>
        <p:nvSpPr>
          <p:cNvPr id="22" name="892f7414 failure mode"/>
          <p:cNvSpPr txBox="1"/>
          <p:nvPr/>
        </p:nvSpPr>
        <p:spPr>
          <a:xfrm>
            <a:off x="457200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Pins generated as holes</a:t>
            </a:r>
            <a:endParaRPr lang="en-US" sz="1500" dirty="0"/>
          </a:p>
        </p:txBody>
      </p:sp>
      <p:pic>
        <p:nvPicPr>
          <p:cNvPr id="23" name="892f7414 drawing" descr="/projects/illinois/eng/ece/wpk/bimrose2/drawing_vlm/results/figures/results_deck/gallery/892f7414_draw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94070"/>
            <a:ext cx="2697480" cy="1544580"/>
          </a:xfrm>
          <a:prstGeom prst="rect">
            <a:avLst/>
          </a:prstGeom>
        </p:spPr>
      </p:pic>
      <p:pic>
        <p:nvPicPr>
          <p:cNvPr id="24" name="892f7414 ground truth" descr="/projects/illinois/eng/ece/wpk/bimrose2/drawing_vlm/results/figures/results_deck/gallery/892f7414_g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6120" y="4474325"/>
            <a:ext cx="868680" cy="423949"/>
          </a:xfrm>
          <a:prstGeom prst="rect">
            <a:avLst/>
          </a:prstGeom>
        </p:spPr>
      </p:pic>
      <p:pic>
        <p:nvPicPr>
          <p:cNvPr id="25" name="892f7414 generation" descr="/projects/illinois/eng/ece/wpk/bimrose2/drawing_vlm/results/figures/results_deck/gallery/892f7414_g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6120" y="5426633"/>
            <a:ext cx="868680" cy="439573"/>
          </a:xfrm>
          <a:prstGeom prst="rect">
            <a:avLst/>
          </a:prstGeom>
        </p:spPr>
      </p:pic>
      <p:sp>
        <p:nvSpPr>
          <p:cNvPr id="26" name="892f7414 metrics"/>
          <p:cNvSpPr txBox="1"/>
          <p:nvPr/>
        </p:nvSpPr>
        <p:spPr>
          <a:xfrm>
            <a:off x="457200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0.25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best of 8 0.76  ·  8/8 executed</a:t>
            </a:r>
            <a:endParaRPr lang="en-US" sz="1200" dirty="0"/>
          </a:p>
        </p:txBody>
      </p:sp>
      <p:sp>
        <p:nvSpPr>
          <p:cNvPr id="27" name="a51e495c failure mode"/>
          <p:cNvSpPr txBox="1"/>
          <p:nvPr/>
        </p:nvSpPr>
        <p:spPr>
          <a:xfrm>
            <a:off x="4265676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Dense feature layout scrambled</a:t>
            </a:r>
            <a:endParaRPr lang="en-US" sz="1500" dirty="0"/>
          </a:p>
        </p:txBody>
      </p:sp>
      <p:pic>
        <p:nvPicPr>
          <p:cNvPr id="28" name="a51e495c drawing" descr="/projects/illinois/eng/ece/wpk/bimrose2/drawing_vlm/results/figures/results_deck/gallery/a51e495c_drawin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3204" y="4251960"/>
            <a:ext cx="2642423" cy="1828800"/>
          </a:xfrm>
          <a:prstGeom prst="rect">
            <a:avLst/>
          </a:prstGeom>
        </p:spPr>
      </p:pic>
      <p:pic>
        <p:nvPicPr>
          <p:cNvPr id="29" name="a51e495c ground truth" descr="/projects/illinois/eng/ece/wpk/bimrose2/drawing_vlm/results/figures/results_deck/gallery/a51e495c_g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4596" y="4474072"/>
            <a:ext cx="868680" cy="424457"/>
          </a:xfrm>
          <a:prstGeom prst="rect">
            <a:avLst/>
          </a:prstGeom>
        </p:spPr>
      </p:pic>
      <p:pic>
        <p:nvPicPr>
          <p:cNvPr id="30" name="a51e495c generation" descr="/projects/illinois/eng/ece/wpk/bimrose2/drawing_vlm/results/figures/results_deck/gallery/a51e495c_ge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4596" y="5450602"/>
            <a:ext cx="868680" cy="391635"/>
          </a:xfrm>
          <a:prstGeom prst="rect">
            <a:avLst/>
          </a:prstGeom>
        </p:spPr>
      </p:pic>
      <p:sp>
        <p:nvSpPr>
          <p:cNvPr id="31" name="a51e495c metrics"/>
          <p:cNvSpPr txBox="1"/>
          <p:nvPr/>
        </p:nvSpPr>
        <p:spPr>
          <a:xfrm>
            <a:off x="4265676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0.47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best of 8 0.57  ·  7/8 executed</a:t>
            </a:r>
            <a:endParaRPr lang="en-US" sz="1200" dirty="0"/>
          </a:p>
        </p:txBody>
      </p:sp>
      <p:sp>
        <p:nvSpPr>
          <p:cNvPr id="32" name="3705dbb0 failure mode"/>
          <p:cNvSpPr txBox="1"/>
          <p:nvPr/>
        </p:nvSpPr>
        <p:spPr>
          <a:xfrm>
            <a:off x="8074152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Thin walls: near-miss, low IoU</a:t>
            </a:r>
            <a:endParaRPr lang="en-US" sz="1500" dirty="0"/>
          </a:p>
        </p:txBody>
      </p:sp>
      <p:pic>
        <p:nvPicPr>
          <p:cNvPr id="33" name="3705dbb0 drawing" descr="/projects/illinois/eng/ece/wpk/bimrose2/drawing_vlm/results/figures/results_deck/gallery/3705dbb0_drawing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1390" y="4251960"/>
            <a:ext cx="2503004" cy="1828800"/>
          </a:xfrm>
          <a:prstGeom prst="rect">
            <a:avLst/>
          </a:prstGeom>
        </p:spPr>
      </p:pic>
      <p:pic>
        <p:nvPicPr>
          <p:cNvPr id="34" name="3705dbb0 ground truth" descr="/projects/illinois/eng/ece/wpk/bimrose2/drawing_vlm/results/figures/results_deck/gallery/3705dbb0_g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63072" y="4416136"/>
            <a:ext cx="868680" cy="540327"/>
          </a:xfrm>
          <a:prstGeom prst="rect">
            <a:avLst/>
          </a:prstGeom>
        </p:spPr>
      </p:pic>
      <p:pic>
        <p:nvPicPr>
          <p:cNvPr id="35" name="3705dbb0 generation" descr="/projects/illinois/eng/ece/wpk/bimrose2/drawing_vlm/results/figures/results_deck/gallery/3705dbb0_gen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63072" y="5374958"/>
            <a:ext cx="868680" cy="542925"/>
          </a:xfrm>
          <a:prstGeom prst="rect">
            <a:avLst/>
          </a:prstGeom>
        </p:spPr>
      </p:pic>
      <p:sp>
        <p:nvSpPr>
          <p:cNvPr id="36" name="3705dbb0 metrics"/>
          <p:cNvSpPr txBox="1"/>
          <p:nvPr/>
        </p:nvSpPr>
        <p:spPr>
          <a:xfrm>
            <a:off x="8074152" y="6135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IoU 0.37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  best of 8 0.59  ·  8/8 executed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F2F2F2"/>
      </a:lt2>
      <a:accent1>
        <a:srgbClr val="2F6FD6"/>
      </a:accent1>
      <a:accent2>
        <a:srgbClr val="8A8F99"/>
      </a:accent2>
      <a:accent3>
        <a:srgbClr val="5A5F69"/>
      </a:accent3>
      <a:accent4>
        <a:srgbClr val="E84A27"/>
      </a:accent4>
      <a:accent5>
        <a:srgbClr val="9FB3D6"/>
      </a:accent5>
      <a:accent6>
        <a:srgbClr val="4D4D4D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figures</dc:title>
  <dc:subject>PptxGenJS Presentation</dc:subject>
  <dc:creator>PptxGenJS</dc:creator>
  <cp:lastModifiedBy>PptxGenJS</cp:lastModifiedBy>
  <cp:revision>1</cp:revision>
  <dcterms:created xsi:type="dcterms:W3CDTF">2026-10-12T19:52:16Z</dcterms:created>
  <dcterms:modified xsi:type="dcterms:W3CDTF">2026-10-12T19:52:16Z</dcterms:modified>
</cp:coreProperties>
</file>