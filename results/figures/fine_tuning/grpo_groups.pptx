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= e55's 8 samples (draw 0 greedy + 7 at T 0.7) for synthetic parts 40a1be28 and 27b61d00 and real bench part F_73525 (CADBench Fusion 360). GRPO training itself samples at T 1.0 from the current policy; these rows illustrate the reward and advantage computation at step 0. Advantage here is r minus the group mean; the training recipe additionally divides by the batch standard deviation (batch-std advantages) and applies token-level PPO clipping (0.2/0.28), no KL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75488" y="256032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slideLayout" Target="../slideLayouts/slideLayout2.xml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75488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GRPO: Learning From Groups of Samples</a:t>
            </a:r>
            <a:endParaRPr lang="en-US" sz="3600" dirty="0"/>
          </a:p>
        </p:txBody>
      </p:sp>
      <p:sp>
        <p:nvSpPr>
          <p:cNvPr id="3" name="legend"/>
          <p:cNvSpPr txBox="1"/>
          <p:nvPr/>
        </p:nvSpPr>
        <p:spPr>
          <a:xfrm>
            <a:off x="475488" y="93268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8 programs sampled per drawing · reward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 = IoU vs ground truth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(0 if it fails) · advantage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 = r − group mean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: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reinforced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discouraged</a:t>
            </a:r>
            <a:endParaRPr lang="en-US" sz="1400" dirty="0"/>
          </a:p>
        </p:txBody>
      </p:sp>
      <p:sp>
        <p:nvSpPr>
          <p:cNvPr id="4" name="row 1 drawing frame"/>
          <p:cNvSpPr/>
          <p:nvPr/>
        </p:nvSpPr>
        <p:spPr>
          <a:xfrm>
            <a:off x="411480" y="1344168"/>
            <a:ext cx="1463040" cy="10241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row 1 drawing" descr="/projects/illinois/eng/ece/wpk/bimrose2/drawing_vlm/results/figures/complex_parts/parts/40a1be28-d887-8d8c-7e85-1cec9ee0eeb6/draw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392936"/>
            <a:ext cx="1389888" cy="926592"/>
          </a:xfrm>
          <a:prstGeom prst="rect">
            <a:avLst/>
          </a:prstGeom>
        </p:spPr>
      </p:pic>
      <p:sp>
        <p:nvSpPr>
          <p:cNvPr id="6" name="row 1 name"/>
          <p:cNvSpPr txBox="1"/>
          <p:nvPr/>
        </p:nvSpPr>
        <p:spPr>
          <a:xfrm>
            <a:off x="411480" y="2395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Flared pedestal mount</a:t>
            </a:r>
            <a:endParaRPr lang="en-US" sz="1100" dirty="0"/>
          </a:p>
        </p:txBody>
      </p:sp>
      <p:sp>
        <p:nvSpPr>
          <p:cNvPr id="7" name="row 1 mean"/>
          <p:cNvSpPr txBox="1"/>
          <p:nvPr/>
        </p:nvSpPr>
        <p:spPr>
          <a:xfrm>
            <a:off x="411480" y="2587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mean 0.61</a:t>
            </a:r>
            <a:endParaRPr lang="en-US" sz="1100" dirty="0"/>
          </a:p>
        </p:txBody>
      </p:sp>
      <p:pic>
        <p:nvPicPr>
          <p:cNvPr id="8" name="row 1 sample 1" descr="/projects/illinois/eng/ece/wpk/bimrose2/drawing_vlm/results/figures/complex_parts/parts/40a1be28-d887-8d8c-7e85-1cec9ee0eeb6/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31" y="1325880"/>
            <a:ext cx="960120" cy="960120"/>
          </a:xfrm>
          <a:prstGeom prst="rect">
            <a:avLst/>
          </a:prstGeom>
        </p:spPr>
      </p:pic>
      <p:sp>
        <p:nvSpPr>
          <p:cNvPr id="9" name="row 1 reward 1"/>
          <p:cNvSpPr txBox="1"/>
          <p:nvPr/>
        </p:nvSpPr>
        <p:spPr>
          <a:xfrm>
            <a:off x="2057400" y="2313432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0.62</a:t>
            </a:r>
            <a:endParaRPr lang="en-US" sz="1200" dirty="0"/>
          </a:p>
        </p:txBody>
      </p:sp>
      <p:sp>
        <p:nvSpPr>
          <p:cNvPr id="10" name="row 1 advantage bar 1"/>
          <p:cNvSpPr/>
          <p:nvPr/>
        </p:nvSpPr>
        <p:spPr>
          <a:xfrm>
            <a:off x="2670791" y="2551176"/>
            <a:ext cx="18288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row 1 advantage axis 1"/>
          <p:cNvSpPr/>
          <p:nvPr/>
        </p:nvSpPr>
        <p:spPr>
          <a:xfrm>
            <a:off x="2670791" y="2523744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2" name="row 1 advantage 1"/>
          <p:cNvSpPr txBox="1"/>
          <p:nvPr/>
        </p:nvSpPr>
        <p:spPr>
          <a:xfrm>
            <a:off x="2057400" y="2670048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+0.01</a:t>
            </a:r>
            <a:endParaRPr lang="en-US" sz="1050" dirty="0"/>
          </a:p>
        </p:txBody>
      </p:sp>
      <p:pic>
        <p:nvPicPr>
          <p:cNvPr id="13" name="row 1 sample 2" descr="/projects/illinois/eng/ece/wpk/bimrose2/drawing_vlm/results/figures/complex_parts/parts/40a1be28-d887-8d8c-7e85-1cec9ee0eeb6/c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513" y="1325880"/>
            <a:ext cx="960120" cy="960120"/>
          </a:xfrm>
          <a:prstGeom prst="rect">
            <a:avLst/>
          </a:prstGeom>
        </p:spPr>
      </p:pic>
      <p:sp>
        <p:nvSpPr>
          <p:cNvPr id="14" name="row 1 reward 2"/>
          <p:cNvSpPr txBox="1"/>
          <p:nvPr/>
        </p:nvSpPr>
        <p:spPr>
          <a:xfrm>
            <a:off x="3284182" y="2313432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0.71</a:t>
            </a:r>
            <a:endParaRPr lang="en-US" sz="1200" dirty="0"/>
          </a:p>
        </p:txBody>
      </p:sp>
      <p:sp>
        <p:nvSpPr>
          <p:cNvPr id="15" name="row 1 advantage bar 2"/>
          <p:cNvSpPr/>
          <p:nvPr/>
        </p:nvSpPr>
        <p:spPr>
          <a:xfrm>
            <a:off x="3897573" y="2551176"/>
            <a:ext cx="107664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row 1 advantage axis 2"/>
          <p:cNvSpPr/>
          <p:nvPr/>
        </p:nvSpPr>
        <p:spPr>
          <a:xfrm>
            <a:off x="3897573" y="2523744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7" name="row 1 advantage 2"/>
          <p:cNvSpPr txBox="1"/>
          <p:nvPr/>
        </p:nvSpPr>
        <p:spPr>
          <a:xfrm>
            <a:off x="3284182" y="2670048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+0.10</a:t>
            </a:r>
            <a:endParaRPr lang="en-US" sz="1050" dirty="0"/>
          </a:p>
        </p:txBody>
      </p:sp>
      <p:pic>
        <p:nvPicPr>
          <p:cNvPr id="18" name="row 1 sample 3" descr="/projects/illinois/eng/ece/wpk/bimrose2/drawing_vlm/results/figures/complex_parts/parts/40a1be28-d887-8d8c-7e85-1cec9ee0eeb6/c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295" y="1325880"/>
            <a:ext cx="960120" cy="960120"/>
          </a:xfrm>
          <a:prstGeom prst="rect">
            <a:avLst/>
          </a:prstGeom>
        </p:spPr>
      </p:pic>
      <p:sp>
        <p:nvSpPr>
          <p:cNvPr id="19" name="row 1 reward 3"/>
          <p:cNvSpPr txBox="1"/>
          <p:nvPr/>
        </p:nvSpPr>
        <p:spPr>
          <a:xfrm>
            <a:off x="4510964" y="2313432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0.86</a:t>
            </a:r>
            <a:endParaRPr lang="en-US" sz="1200" dirty="0"/>
          </a:p>
        </p:txBody>
      </p:sp>
      <p:sp>
        <p:nvSpPr>
          <p:cNvPr id="20" name="row 1 advantage bar 3"/>
          <p:cNvSpPr/>
          <p:nvPr/>
        </p:nvSpPr>
        <p:spPr>
          <a:xfrm>
            <a:off x="5124355" y="2551176"/>
            <a:ext cx="268453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row 1 advantage axis 3"/>
          <p:cNvSpPr/>
          <p:nvPr/>
        </p:nvSpPr>
        <p:spPr>
          <a:xfrm>
            <a:off x="5124355" y="2523744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22" name="row 1 advantage 3"/>
          <p:cNvSpPr txBox="1"/>
          <p:nvPr/>
        </p:nvSpPr>
        <p:spPr>
          <a:xfrm>
            <a:off x="4510964" y="2670048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+0.26</a:t>
            </a:r>
            <a:endParaRPr lang="en-US" sz="1050" dirty="0"/>
          </a:p>
        </p:txBody>
      </p:sp>
      <p:pic>
        <p:nvPicPr>
          <p:cNvPr id="23" name="row 1 sample 4" descr="/projects/illinois/eng/ece/wpk/bimrose2/drawing_vlm/results/figures/complex_parts/parts/40a1be28-d887-8d8c-7e85-1cec9ee0eeb6/c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077" y="1325880"/>
            <a:ext cx="960120" cy="960120"/>
          </a:xfrm>
          <a:prstGeom prst="rect">
            <a:avLst/>
          </a:prstGeom>
        </p:spPr>
      </p:pic>
      <p:sp>
        <p:nvSpPr>
          <p:cNvPr id="24" name="row 1 reward 4"/>
          <p:cNvSpPr txBox="1"/>
          <p:nvPr/>
        </p:nvSpPr>
        <p:spPr>
          <a:xfrm>
            <a:off x="5737746" y="2313432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0.29</a:t>
            </a:r>
            <a:endParaRPr lang="en-US" sz="1200" dirty="0"/>
          </a:p>
        </p:txBody>
      </p:sp>
      <p:sp>
        <p:nvSpPr>
          <p:cNvPr id="25" name="row 1 advantage bar 4"/>
          <p:cNvSpPr/>
          <p:nvPr/>
        </p:nvSpPr>
        <p:spPr>
          <a:xfrm>
            <a:off x="6024126" y="2551176"/>
            <a:ext cx="327010" cy="100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row 1 advantage axis 4"/>
          <p:cNvSpPr/>
          <p:nvPr/>
        </p:nvSpPr>
        <p:spPr>
          <a:xfrm>
            <a:off x="6351137" y="2523744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27" name="row 1 advantage 4"/>
          <p:cNvSpPr txBox="1"/>
          <p:nvPr/>
        </p:nvSpPr>
        <p:spPr>
          <a:xfrm>
            <a:off x="5737746" y="2670048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 −0.31</a:t>
            </a:r>
            <a:endParaRPr lang="en-US" sz="1050" dirty="0"/>
          </a:p>
        </p:txBody>
      </p:sp>
      <p:pic>
        <p:nvPicPr>
          <p:cNvPr id="28" name="row 1 sample 5" descr="/projects/illinois/eng/ece/wpk/bimrose2/drawing_vlm/results/figures/complex_parts/parts/40a1be28-d887-8d8c-7e85-1cec9ee0eeb6/c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859" y="1325880"/>
            <a:ext cx="960120" cy="960120"/>
          </a:xfrm>
          <a:prstGeom prst="rect">
            <a:avLst/>
          </a:prstGeom>
        </p:spPr>
      </p:pic>
      <p:sp>
        <p:nvSpPr>
          <p:cNvPr id="29" name="row 1 reward 5"/>
          <p:cNvSpPr txBox="1"/>
          <p:nvPr/>
        </p:nvSpPr>
        <p:spPr>
          <a:xfrm>
            <a:off x="6964528" y="2313432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0.81</a:t>
            </a:r>
            <a:endParaRPr lang="en-US" sz="1200" dirty="0"/>
          </a:p>
        </p:txBody>
      </p:sp>
      <p:sp>
        <p:nvSpPr>
          <p:cNvPr id="30" name="row 1 advantage bar 5"/>
          <p:cNvSpPr/>
          <p:nvPr/>
        </p:nvSpPr>
        <p:spPr>
          <a:xfrm>
            <a:off x="7577919" y="2551176"/>
            <a:ext cx="212939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row 1 advantage axis 5"/>
          <p:cNvSpPr/>
          <p:nvPr/>
        </p:nvSpPr>
        <p:spPr>
          <a:xfrm>
            <a:off x="7577919" y="2523744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32" name="row 1 advantage 5"/>
          <p:cNvSpPr txBox="1"/>
          <p:nvPr/>
        </p:nvSpPr>
        <p:spPr>
          <a:xfrm>
            <a:off x="6964528" y="2670048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+0.20</a:t>
            </a:r>
            <a:endParaRPr lang="en-US" sz="1050" dirty="0"/>
          </a:p>
        </p:txBody>
      </p:sp>
      <p:pic>
        <p:nvPicPr>
          <p:cNvPr id="33" name="row 1 sample 6" descr="/projects/illinois/eng/ece/wpk/bimrose2/drawing_vlm/results/figures/complex_parts/parts/40a1be28-d887-8d8c-7e85-1cec9ee0eeb6/c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640" y="1325880"/>
            <a:ext cx="960120" cy="960120"/>
          </a:xfrm>
          <a:prstGeom prst="rect">
            <a:avLst/>
          </a:prstGeom>
        </p:spPr>
      </p:pic>
      <p:sp>
        <p:nvSpPr>
          <p:cNvPr id="34" name="row 1 reward 6"/>
          <p:cNvSpPr txBox="1"/>
          <p:nvPr/>
        </p:nvSpPr>
        <p:spPr>
          <a:xfrm>
            <a:off x="8191310" y="2313432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0.56</a:t>
            </a:r>
            <a:endParaRPr lang="en-US" sz="1200" dirty="0"/>
          </a:p>
        </p:txBody>
      </p:sp>
      <p:sp>
        <p:nvSpPr>
          <p:cNvPr id="35" name="row 1 advantage bar 6"/>
          <p:cNvSpPr/>
          <p:nvPr/>
        </p:nvSpPr>
        <p:spPr>
          <a:xfrm>
            <a:off x="8759384" y="2551176"/>
            <a:ext cx="45317" cy="100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row 1 advantage axis 6"/>
          <p:cNvSpPr/>
          <p:nvPr/>
        </p:nvSpPr>
        <p:spPr>
          <a:xfrm>
            <a:off x="8804700" y="2523744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37" name="row 1 advantage 6"/>
          <p:cNvSpPr txBox="1"/>
          <p:nvPr/>
        </p:nvSpPr>
        <p:spPr>
          <a:xfrm>
            <a:off x="8191310" y="2670048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 −0.04</a:t>
            </a:r>
            <a:endParaRPr lang="en-US" sz="1050" dirty="0"/>
          </a:p>
        </p:txBody>
      </p:sp>
      <p:sp>
        <p:nvSpPr>
          <p:cNvPr id="38" name="row 1 sample 7"/>
          <p:cNvSpPr txBox="1"/>
          <p:nvPr/>
        </p:nvSpPr>
        <p:spPr>
          <a:xfrm>
            <a:off x="9418091" y="1325880"/>
            <a:ext cx="12267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no solid</a:t>
            </a:r>
            <a:endParaRPr lang="en-US" sz="1100" dirty="0"/>
          </a:p>
        </p:txBody>
      </p:sp>
      <p:sp>
        <p:nvSpPr>
          <p:cNvPr id="39" name="row 1 reward 7"/>
          <p:cNvSpPr txBox="1"/>
          <p:nvPr/>
        </p:nvSpPr>
        <p:spPr>
          <a:xfrm>
            <a:off x="9418091" y="2313432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0.00</a:t>
            </a:r>
            <a:endParaRPr lang="en-US" sz="1200" dirty="0"/>
          </a:p>
        </p:txBody>
      </p:sp>
      <p:sp>
        <p:nvSpPr>
          <p:cNvPr id="40" name="row 1 advantage bar 7"/>
          <p:cNvSpPr/>
          <p:nvPr/>
        </p:nvSpPr>
        <p:spPr>
          <a:xfrm>
            <a:off x="9509531" y="2551176"/>
            <a:ext cx="521951" cy="100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row 1 advantage axis 7"/>
          <p:cNvSpPr/>
          <p:nvPr/>
        </p:nvSpPr>
        <p:spPr>
          <a:xfrm>
            <a:off x="10031482" y="2523744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42" name="row 1 advantage 7"/>
          <p:cNvSpPr txBox="1"/>
          <p:nvPr/>
        </p:nvSpPr>
        <p:spPr>
          <a:xfrm>
            <a:off x="9418091" y="2670048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 −0.61</a:t>
            </a:r>
            <a:endParaRPr lang="en-US" sz="1050" dirty="0"/>
          </a:p>
        </p:txBody>
      </p:sp>
      <p:pic>
        <p:nvPicPr>
          <p:cNvPr id="43" name="row 1 sample 8" descr="/projects/illinois/eng/ece/wpk/bimrose2/drawing_vlm/results/figures/complex_parts/parts/40a1be28-d887-8d8c-7e85-1cec9ee0eeb6/c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8204" y="1325880"/>
            <a:ext cx="960120" cy="960120"/>
          </a:xfrm>
          <a:prstGeom prst="rect">
            <a:avLst/>
          </a:prstGeom>
        </p:spPr>
      </p:pic>
      <p:sp>
        <p:nvSpPr>
          <p:cNvPr id="44" name="row 1 reward 8"/>
          <p:cNvSpPr txBox="1"/>
          <p:nvPr/>
        </p:nvSpPr>
        <p:spPr>
          <a:xfrm>
            <a:off x="10644873" y="2313432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0.99</a:t>
            </a:r>
            <a:endParaRPr lang="en-US" sz="1200" dirty="0"/>
          </a:p>
        </p:txBody>
      </p:sp>
      <p:sp>
        <p:nvSpPr>
          <p:cNvPr id="45" name="row 1 advantage bar 8"/>
          <p:cNvSpPr/>
          <p:nvPr/>
        </p:nvSpPr>
        <p:spPr>
          <a:xfrm>
            <a:off x="11258264" y="2551176"/>
            <a:ext cx="400676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row 1 advantage axis 8"/>
          <p:cNvSpPr/>
          <p:nvPr/>
        </p:nvSpPr>
        <p:spPr>
          <a:xfrm>
            <a:off x="11258264" y="2523744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47" name="row 1 advantage 8"/>
          <p:cNvSpPr txBox="1"/>
          <p:nvPr/>
        </p:nvSpPr>
        <p:spPr>
          <a:xfrm>
            <a:off x="10644873" y="2670048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+0.38</a:t>
            </a:r>
            <a:endParaRPr lang="en-US" sz="1050" dirty="0"/>
          </a:p>
        </p:txBody>
      </p:sp>
      <p:sp>
        <p:nvSpPr>
          <p:cNvPr id="48" name="row 2 divider"/>
          <p:cNvSpPr/>
          <p:nvPr/>
        </p:nvSpPr>
        <p:spPr>
          <a:xfrm>
            <a:off x="411480" y="2825496"/>
            <a:ext cx="11460175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9" name="row 2 drawing frame"/>
          <p:cNvSpPr/>
          <p:nvPr/>
        </p:nvSpPr>
        <p:spPr>
          <a:xfrm>
            <a:off x="411480" y="2916936"/>
            <a:ext cx="1463040" cy="10241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0" name="row 2 drawing" descr="/projects/illinois/eng/ece/wpk/bimrose2/drawing_vlm/results/figures/complex_parts/parts/27b61d00-4187-9581-4a40-0249daff1d3e/drawin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056" y="2965704"/>
            <a:ext cx="1389888" cy="926592"/>
          </a:xfrm>
          <a:prstGeom prst="rect">
            <a:avLst/>
          </a:prstGeom>
        </p:spPr>
      </p:pic>
      <p:sp>
        <p:nvSpPr>
          <p:cNvPr id="51" name="row 2 name"/>
          <p:cNvSpPr txBox="1"/>
          <p:nvPr/>
        </p:nvSpPr>
        <p:spPr>
          <a:xfrm>
            <a:off x="411480" y="39684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Slotted cage sleeve</a:t>
            </a:r>
            <a:endParaRPr lang="en-US" sz="1100" dirty="0"/>
          </a:p>
        </p:txBody>
      </p:sp>
      <p:sp>
        <p:nvSpPr>
          <p:cNvPr id="52" name="row 2 mean"/>
          <p:cNvSpPr txBox="1"/>
          <p:nvPr/>
        </p:nvSpPr>
        <p:spPr>
          <a:xfrm>
            <a:off x="411480" y="4160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mean 0.74</a:t>
            </a:r>
            <a:endParaRPr lang="en-US" sz="1100" dirty="0"/>
          </a:p>
        </p:txBody>
      </p:sp>
      <p:pic>
        <p:nvPicPr>
          <p:cNvPr id="53" name="row 2 sample 1" descr="/projects/illinois/eng/ece/wpk/bimrose2/drawing_vlm/results/figures/complex_parts/parts/27b61d00-4187-9581-4a40-0249daff1d3e/c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0731" y="2898648"/>
            <a:ext cx="960120" cy="960120"/>
          </a:xfrm>
          <a:prstGeom prst="rect">
            <a:avLst/>
          </a:prstGeom>
        </p:spPr>
      </p:pic>
      <p:sp>
        <p:nvSpPr>
          <p:cNvPr id="54" name="row 2 reward 1"/>
          <p:cNvSpPr txBox="1"/>
          <p:nvPr/>
        </p:nvSpPr>
        <p:spPr>
          <a:xfrm>
            <a:off x="2057400" y="3886200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0.91</a:t>
            </a:r>
            <a:endParaRPr lang="en-US" sz="1200" dirty="0"/>
          </a:p>
        </p:txBody>
      </p:sp>
      <p:sp>
        <p:nvSpPr>
          <p:cNvPr id="55" name="row 2 advantage bar 1"/>
          <p:cNvSpPr/>
          <p:nvPr/>
        </p:nvSpPr>
        <p:spPr>
          <a:xfrm>
            <a:off x="2670791" y="4123944"/>
            <a:ext cx="178301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6" name="row 2 advantage axis 1"/>
          <p:cNvSpPr/>
          <p:nvPr/>
        </p:nvSpPr>
        <p:spPr>
          <a:xfrm>
            <a:off x="2670791" y="4096512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57" name="row 2 advantage 1"/>
          <p:cNvSpPr txBox="1"/>
          <p:nvPr/>
        </p:nvSpPr>
        <p:spPr>
          <a:xfrm>
            <a:off x="2057400" y="4242816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+0.17</a:t>
            </a:r>
            <a:endParaRPr lang="en-US" sz="1050" dirty="0"/>
          </a:p>
        </p:txBody>
      </p:sp>
      <p:pic>
        <p:nvPicPr>
          <p:cNvPr id="58" name="row 2 sample 2" descr="/projects/illinois/eng/ece/wpk/bimrose2/drawing_vlm/results/figures/complex_parts/parts/27b61d00-4187-9581-4a40-0249daff1d3e/c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7513" y="2898648"/>
            <a:ext cx="960120" cy="960120"/>
          </a:xfrm>
          <a:prstGeom prst="rect">
            <a:avLst/>
          </a:prstGeom>
        </p:spPr>
      </p:pic>
      <p:sp>
        <p:nvSpPr>
          <p:cNvPr id="59" name="row 2 reward 2"/>
          <p:cNvSpPr txBox="1"/>
          <p:nvPr/>
        </p:nvSpPr>
        <p:spPr>
          <a:xfrm>
            <a:off x="3284182" y="3886200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0.75</a:t>
            </a:r>
            <a:endParaRPr lang="en-US" sz="1200" dirty="0"/>
          </a:p>
        </p:txBody>
      </p:sp>
      <p:sp>
        <p:nvSpPr>
          <p:cNvPr id="60" name="row 2 advantage bar 2"/>
          <p:cNvSpPr/>
          <p:nvPr/>
        </p:nvSpPr>
        <p:spPr>
          <a:xfrm>
            <a:off x="3897573" y="4123944"/>
            <a:ext cx="18288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1" name="row 2 advantage axis 2"/>
          <p:cNvSpPr/>
          <p:nvPr/>
        </p:nvSpPr>
        <p:spPr>
          <a:xfrm>
            <a:off x="3897573" y="4096512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62" name="row 2 advantage 2"/>
          <p:cNvSpPr txBox="1"/>
          <p:nvPr/>
        </p:nvSpPr>
        <p:spPr>
          <a:xfrm>
            <a:off x="3284182" y="4242816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+0.01</a:t>
            </a:r>
            <a:endParaRPr lang="en-US" sz="1050" dirty="0"/>
          </a:p>
        </p:txBody>
      </p:sp>
      <p:pic>
        <p:nvPicPr>
          <p:cNvPr id="63" name="row 2 sample 3" descr="/projects/illinois/eng/ece/wpk/bimrose2/drawing_vlm/results/figures/complex_parts/parts/27b61d00-4187-9581-4a40-0249daff1d3e/c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4295" y="2898648"/>
            <a:ext cx="960120" cy="960120"/>
          </a:xfrm>
          <a:prstGeom prst="rect">
            <a:avLst/>
          </a:prstGeom>
        </p:spPr>
      </p:pic>
      <p:sp>
        <p:nvSpPr>
          <p:cNvPr id="64" name="row 2 reward 3"/>
          <p:cNvSpPr txBox="1"/>
          <p:nvPr/>
        </p:nvSpPr>
        <p:spPr>
          <a:xfrm>
            <a:off x="4510964" y="3886200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0.40</a:t>
            </a:r>
            <a:endParaRPr lang="en-US" sz="1200" dirty="0"/>
          </a:p>
        </p:txBody>
      </p:sp>
      <p:sp>
        <p:nvSpPr>
          <p:cNvPr id="65" name="row 2 advantage bar 3"/>
          <p:cNvSpPr/>
          <p:nvPr/>
        </p:nvSpPr>
        <p:spPr>
          <a:xfrm>
            <a:off x="4773276" y="4123944"/>
            <a:ext cx="351079" cy="100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6" name="row 2 advantage axis 3"/>
          <p:cNvSpPr/>
          <p:nvPr/>
        </p:nvSpPr>
        <p:spPr>
          <a:xfrm>
            <a:off x="5124355" y="4096512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67" name="row 2 advantage 3"/>
          <p:cNvSpPr txBox="1"/>
          <p:nvPr/>
        </p:nvSpPr>
        <p:spPr>
          <a:xfrm>
            <a:off x="4510964" y="4242816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 −0.34</a:t>
            </a:r>
            <a:endParaRPr lang="en-US" sz="1050" dirty="0"/>
          </a:p>
        </p:txBody>
      </p:sp>
      <p:pic>
        <p:nvPicPr>
          <p:cNvPr id="68" name="row 2 sample 4" descr="/projects/illinois/eng/ece/wpk/bimrose2/drawing_vlm/results/figures/complex_parts/parts/27b61d00-4187-9581-4a40-0249daff1d3e/c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71077" y="2898648"/>
            <a:ext cx="960120" cy="960120"/>
          </a:xfrm>
          <a:prstGeom prst="rect">
            <a:avLst/>
          </a:prstGeom>
        </p:spPr>
      </p:pic>
      <p:sp>
        <p:nvSpPr>
          <p:cNvPr id="69" name="row 2 reward 4"/>
          <p:cNvSpPr txBox="1"/>
          <p:nvPr/>
        </p:nvSpPr>
        <p:spPr>
          <a:xfrm>
            <a:off x="5737746" y="3886200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0.63</a:t>
            </a:r>
            <a:endParaRPr lang="en-US" sz="1200" dirty="0"/>
          </a:p>
        </p:txBody>
      </p:sp>
      <p:sp>
        <p:nvSpPr>
          <p:cNvPr id="70" name="row 2 advantage bar 4"/>
          <p:cNvSpPr/>
          <p:nvPr/>
        </p:nvSpPr>
        <p:spPr>
          <a:xfrm>
            <a:off x="6238501" y="4123944"/>
            <a:ext cx="112636" cy="100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1" name="row 2 advantage axis 4"/>
          <p:cNvSpPr/>
          <p:nvPr/>
        </p:nvSpPr>
        <p:spPr>
          <a:xfrm>
            <a:off x="6351137" y="4096512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72" name="row 2 advantage 4"/>
          <p:cNvSpPr txBox="1"/>
          <p:nvPr/>
        </p:nvSpPr>
        <p:spPr>
          <a:xfrm>
            <a:off x="5737746" y="4242816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 −0.11</a:t>
            </a:r>
            <a:endParaRPr lang="en-US" sz="1050" dirty="0"/>
          </a:p>
        </p:txBody>
      </p:sp>
      <p:pic>
        <p:nvPicPr>
          <p:cNvPr id="73" name="row 2 sample 5" descr="/projects/illinois/eng/ece/wpk/bimrose2/drawing_vlm/results/figures/complex_parts/parts/27b61d00-4187-9581-4a40-0249daff1d3e/c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97859" y="2898648"/>
            <a:ext cx="960120" cy="960120"/>
          </a:xfrm>
          <a:prstGeom prst="rect">
            <a:avLst/>
          </a:prstGeom>
        </p:spPr>
      </p:pic>
      <p:sp>
        <p:nvSpPr>
          <p:cNvPr id="74" name="row 2 reward 5"/>
          <p:cNvSpPr txBox="1"/>
          <p:nvPr/>
        </p:nvSpPr>
        <p:spPr>
          <a:xfrm>
            <a:off x="6964528" y="3886200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0.87</a:t>
            </a:r>
            <a:endParaRPr lang="en-US" sz="1200" dirty="0"/>
          </a:p>
        </p:txBody>
      </p:sp>
      <p:sp>
        <p:nvSpPr>
          <p:cNvPr id="75" name="row 2 advantage bar 5"/>
          <p:cNvSpPr/>
          <p:nvPr/>
        </p:nvSpPr>
        <p:spPr>
          <a:xfrm>
            <a:off x="7577919" y="4123944"/>
            <a:ext cx="133056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6" name="row 2 advantage axis 5"/>
          <p:cNvSpPr/>
          <p:nvPr/>
        </p:nvSpPr>
        <p:spPr>
          <a:xfrm>
            <a:off x="7577919" y="4096512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77" name="row 2 advantage 5"/>
          <p:cNvSpPr txBox="1"/>
          <p:nvPr/>
        </p:nvSpPr>
        <p:spPr>
          <a:xfrm>
            <a:off x="6964528" y="4242816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+0.13</a:t>
            </a:r>
            <a:endParaRPr lang="en-US" sz="1050" dirty="0"/>
          </a:p>
        </p:txBody>
      </p:sp>
      <p:pic>
        <p:nvPicPr>
          <p:cNvPr id="78" name="row 2 sample 6" descr="/projects/illinois/eng/ece/wpk/bimrose2/drawing_vlm/results/figures/complex_parts/parts/27b61d00-4187-9581-4a40-0249daff1d3e/c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4640" y="2898648"/>
            <a:ext cx="960120" cy="960120"/>
          </a:xfrm>
          <a:prstGeom prst="rect">
            <a:avLst/>
          </a:prstGeom>
        </p:spPr>
      </p:pic>
      <p:sp>
        <p:nvSpPr>
          <p:cNvPr id="79" name="row 2 reward 6"/>
          <p:cNvSpPr txBox="1"/>
          <p:nvPr/>
        </p:nvSpPr>
        <p:spPr>
          <a:xfrm>
            <a:off x="8191310" y="3886200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0.65</a:t>
            </a:r>
            <a:endParaRPr lang="en-US" sz="1200" dirty="0"/>
          </a:p>
        </p:txBody>
      </p:sp>
      <p:sp>
        <p:nvSpPr>
          <p:cNvPr id="80" name="row 2 advantage bar 6"/>
          <p:cNvSpPr/>
          <p:nvPr/>
        </p:nvSpPr>
        <p:spPr>
          <a:xfrm>
            <a:off x="8707172" y="4123944"/>
            <a:ext cx="97528" cy="100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1" name="row 2 advantage axis 6"/>
          <p:cNvSpPr/>
          <p:nvPr/>
        </p:nvSpPr>
        <p:spPr>
          <a:xfrm>
            <a:off x="8804700" y="4096512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82" name="row 2 advantage 6"/>
          <p:cNvSpPr txBox="1"/>
          <p:nvPr/>
        </p:nvSpPr>
        <p:spPr>
          <a:xfrm>
            <a:off x="8191310" y="4242816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 −0.09</a:t>
            </a:r>
            <a:endParaRPr lang="en-US" sz="1050" dirty="0"/>
          </a:p>
        </p:txBody>
      </p:sp>
      <p:pic>
        <p:nvPicPr>
          <p:cNvPr id="83" name="row 2 sample 7" descr="/projects/illinois/eng/ece/wpk/bimrose2/drawing_vlm/results/figures/complex_parts/parts/27b61d00-4187-9581-4a40-0249daff1d3e/c6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51422" y="2898648"/>
            <a:ext cx="960120" cy="960120"/>
          </a:xfrm>
          <a:prstGeom prst="rect">
            <a:avLst/>
          </a:prstGeom>
        </p:spPr>
      </p:pic>
      <p:sp>
        <p:nvSpPr>
          <p:cNvPr id="84" name="row 2 reward 7"/>
          <p:cNvSpPr txBox="1"/>
          <p:nvPr/>
        </p:nvSpPr>
        <p:spPr>
          <a:xfrm>
            <a:off x="9418091" y="3886200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1.00</a:t>
            </a:r>
            <a:endParaRPr lang="en-US" sz="1200" dirty="0"/>
          </a:p>
        </p:txBody>
      </p:sp>
      <p:sp>
        <p:nvSpPr>
          <p:cNvPr id="85" name="row 2 advantage bar 7"/>
          <p:cNvSpPr/>
          <p:nvPr/>
        </p:nvSpPr>
        <p:spPr>
          <a:xfrm>
            <a:off x="10031482" y="4123944"/>
            <a:ext cx="267208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6" name="row 2 advantage axis 7"/>
          <p:cNvSpPr/>
          <p:nvPr/>
        </p:nvSpPr>
        <p:spPr>
          <a:xfrm>
            <a:off x="10031482" y="4096512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87" name="row 2 advantage 7"/>
          <p:cNvSpPr txBox="1"/>
          <p:nvPr/>
        </p:nvSpPr>
        <p:spPr>
          <a:xfrm>
            <a:off x="9418091" y="4242816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+0.26</a:t>
            </a:r>
            <a:endParaRPr lang="en-US" sz="1050" dirty="0"/>
          </a:p>
        </p:txBody>
      </p:sp>
      <p:pic>
        <p:nvPicPr>
          <p:cNvPr id="88" name="row 2 sample 8" descr="/projects/illinois/eng/ece/wpk/bimrose2/drawing_vlm/results/figures/complex_parts/parts/27b61d00-4187-9581-4a40-0249daff1d3e/c7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78204" y="2898648"/>
            <a:ext cx="960120" cy="960120"/>
          </a:xfrm>
          <a:prstGeom prst="rect">
            <a:avLst/>
          </a:prstGeom>
        </p:spPr>
      </p:pic>
      <p:sp>
        <p:nvSpPr>
          <p:cNvPr id="89" name="row 2 reward 8"/>
          <p:cNvSpPr txBox="1"/>
          <p:nvPr/>
        </p:nvSpPr>
        <p:spPr>
          <a:xfrm>
            <a:off x="10644873" y="3886200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0.71</a:t>
            </a:r>
            <a:endParaRPr lang="en-US" sz="1200" dirty="0"/>
          </a:p>
        </p:txBody>
      </p:sp>
      <p:sp>
        <p:nvSpPr>
          <p:cNvPr id="90" name="row 2 advantage bar 8"/>
          <p:cNvSpPr/>
          <p:nvPr/>
        </p:nvSpPr>
        <p:spPr>
          <a:xfrm>
            <a:off x="11229667" y="4123944"/>
            <a:ext cx="28597" cy="100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1" name="row 2 advantage axis 8"/>
          <p:cNvSpPr/>
          <p:nvPr/>
        </p:nvSpPr>
        <p:spPr>
          <a:xfrm>
            <a:off x="11258264" y="4096512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92" name="row 2 advantage 8"/>
          <p:cNvSpPr txBox="1"/>
          <p:nvPr/>
        </p:nvSpPr>
        <p:spPr>
          <a:xfrm>
            <a:off x="10644873" y="4242816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 −0.03</a:t>
            </a:r>
            <a:endParaRPr lang="en-US" sz="1050" dirty="0"/>
          </a:p>
        </p:txBody>
      </p:sp>
      <p:sp>
        <p:nvSpPr>
          <p:cNvPr id="93" name="row 3 divider"/>
          <p:cNvSpPr/>
          <p:nvPr/>
        </p:nvSpPr>
        <p:spPr>
          <a:xfrm>
            <a:off x="411480" y="4398264"/>
            <a:ext cx="11460175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4" name="row 3 drawing frame"/>
          <p:cNvSpPr/>
          <p:nvPr/>
        </p:nvSpPr>
        <p:spPr>
          <a:xfrm>
            <a:off x="411480" y="4489704"/>
            <a:ext cx="1463040" cy="10241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5" name="row 3 drawing" descr="/projects/illinois/eng/ece/wpk/bimrose2/drawing_vlm/results/figures/real_parts/parts/F_73525_7f6b2f67_0_medium/drawing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8056" y="4538472"/>
            <a:ext cx="1389888" cy="926592"/>
          </a:xfrm>
          <a:prstGeom prst="rect">
            <a:avLst/>
          </a:prstGeom>
        </p:spPr>
      </p:pic>
      <p:sp>
        <p:nvSpPr>
          <p:cNvPr id="96" name="row 3 name"/>
          <p:cNvSpPr txBox="1"/>
          <p:nvPr/>
        </p:nvSpPr>
        <p:spPr>
          <a:xfrm>
            <a:off x="411480" y="55412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Handwheel (real part)</a:t>
            </a:r>
            <a:endParaRPr lang="en-US" sz="1100" dirty="0"/>
          </a:p>
        </p:txBody>
      </p:sp>
      <p:sp>
        <p:nvSpPr>
          <p:cNvPr id="97" name="row 3 mean"/>
          <p:cNvSpPr txBox="1"/>
          <p:nvPr/>
        </p:nvSpPr>
        <p:spPr>
          <a:xfrm>
            <a:off x="411480" y="5733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mean 0.35</a:t>
            </a:r>
            <a:endParaRPr lang="en-US" sz="1100" dirty="0"/>
          </a:p>
        </p:txBody>
      </p:sp>
      <p:sp>
        <p:nvSpPr>
          <p:cNvPr id="98" name="row 3 sample 1"/>
          <p:cNvSpPr txBox="1"/>
          <p:nvPr/>
        </p:nvSpPr>
        <p:spPr>
          <a:xfrm>
            <a:off x="2057400" y="4471416"/>
            <a:ext cx="12267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no solid</a:t>
            </a:r>
            <a:endParaRPr lang="en-US" sz="1100" dirty="0"/>
          </a:p>
        </p:txBody>
      </p:sp>
      <p:sp>
        <p:nvSpPr>
          <p:cNvPr id="99" name="row 3 reward 1"/>
          <p:cNvSpPr txBox="1"/>
          <p:nvPr/>
        </p:nvSpPr>
        <p:spPr>
          <a:xfrm>
            <a:off x="2057400" y="5458968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0.00</a:t>
            </a:r>
            <a:endParaRPr lang="en-US" sz="1200" dirty="0"/>
          </a:p>
        </p:txBody>
      </p:sp>
      <p:sp>
        <p:nvSpPr>
          <p:cNvPr id="100" name="row 3 advantage bar 1"/>
          <p:cNvSpPr/>
          <p:nvPr/>
        </p:nvSpPr>
        <p:spPr>
          <a:xfrm>
            <a:off x="2306655" y="5696712"/>
            <a:ext cx="364136" cy="100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1" name="row 3 advantage axis 1"/>
          <p:cNvSpPr/>
          <p:nvPr/>
        </p:nvSpPr>
        <p:spPr>
          <a:xfrm>
            <a:off x="2670791" y="5669280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02" name="row 3 advantage 1"/>
          <p:cNvSpPr txBox="1"/>
          <p:nvPr/>
        </p:nvSpPr>
        <p:spPr>
          <a:xfrm>
            <a:off x="2057400" y="5815584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 −0.35</a:t>
            </a:r>
            <a:endParaRPr lang="en-US" sz="1050" dirty="0"/>
          </a:p>
        </p:txBody>
      </p:sp>
      <p:pic>
        <p:nvPicPr>
          <p:cNvPr id="103" name="row 3 sample 2" descr="/projects/illinois/eng/ece/wpk/bimrose2/drawing_vlm/results/figures/real_parts/parts/F_73525_7f6b2f67_0_medium/c1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17513" y="4471416"/>
            <a:ext cx="960120" cy="960120"/>
          </a:xfrm>
          <a:prstGeom prst="rect">
            <a:avLst/>
          </a:prstGeom>
        </p:spPr>
      </p:pic>
      <p:sp>
        <p:nvSpPr>
          <p:cNvPr id="104" name="row 3 reward 2"/>
          <p:cNvSpPr txBox="1"/>
          <p:nvPr/>
        </p:nvSpPr>
        <p:spPr>
          <a:xfrm>
            <a:off x="3284182" y="5458968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0.21</a:t>
            </a:r>
            <a:endParaRPr lang="en-US" sz="1200" dirty="0"/>
          </a:p>
        </p:txBody>
      </p:sp>
      <p:sp>
        <p:nvSpPr>
          <p:cNvPr id="105" name="row 3 advantage bar 2"/>
          <p:cNvSpPr/>
          <p:nvPr/>
        </p:nvSpPr>
        <p:spPr>
          <a:xfrm>
            <a:off x="3753613" y="5696712"/>
            <a:ext cx="143960" cy="100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6" name="row 3 advantage axis 2"/>
          <p:cNvSpPr/>
          <p:nvPr/>
        </p:nvSpPr>
        <p:spPr>
          <a:xfrm>
            <a:off x="3897573" y="5669280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07" name="row 3 advantage 2"/>
          <p:cNvSpPr txBox="1"/>
          <p:nvPr/>
        </p:nvSpPr>
        <p:spPr>
          <a:xfrm>
            <a:off x="3284182" y="5815584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 −0.14</a:t>
            </a:r>
            <a:endParaRPr lang="en-US" sz="1050" dirty="0"/>
          </a:p>
        </p:txBody>
      </p:sp>
      <p:pic>
        <p:nvPicPr>
          <p:cNvPr id="108" name="row 3 sample 3" descr="/projects/illinois/eng/ece/wpk/bimrose2/drawing_vlm/results/figures/real_parts/parts/F_73525_7f6b2f67_0_medium/c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44295" y="4471416"/>
            <a:ext cx="960120" cy="960120"/>
          </a:xfrm>
          <a:prstGeom prst="rect">
            <a:avLst/>
          </a:prstGeom>
        </p:spPr>
      </p:pic>
      <p:sp>
        <p:nvSpPr>
          <p:cNvPr id="109" name="row 3 reward 3"/>
          <p:cNvSpPr txBox="1"/>
          <p:nvPr/>
        </p:nvSpPr>
        <p:spPr>
          <a:xfrm>
            <a:off x="4510964" y="5458968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0.53</a:t>
            </a:r>
            <a:endParaRPr lang="en-US" sz="1200" dirty="0"/>
          </a:p>
        </p:txBody>
      </p:sp>
      <p:sp>
        <p:nvSpPr>
          <p:cNvPr id="110" name="row 3 advantage bar 3"/>
          <p:cNvSpPr/>
          <p:nvPr/>
        </p:nvSpPr>
        <p:spPr>
          <a:xfrm>
            <a:off x="5124355" y="5696712"/>
            <a:ext cx="193471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1" name="row 3 advantage axis 3"/>
          <p:cNvSpPr/>
          <p:nvPr/>
        </p:nvSpPr>
        <p:spPr>
          <a:xfrm>
            <a:off x="5124355" y="5669280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12" name="row 3 advantage 3"/>
          <p:cNvSpPr txBox="1"/>
          <p:nvPr/>
        </p:nvSpPr>
        <p:spPr>
          <a:xfrm>
            <a:off x="4510964" y="5815584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+0.19</a:t>
            </a:r>
            <a:endParaRPr lang="en-US" sz="1050" dirty="0"/>
          </a:p>
        </p:txBody>
      </p:sp>
      <p:pic>
        <p:nvPicPr>
          <p:cNvPr id="113" name="row 3 sample 4" descr="/projects/illinois/eng/ece/wpk/bimrose2/drawing_vlm/results/figures/real_parts/parts/F_73525_7f6b2f67_0_medium/c3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71077" y="4471416"/>
            <a:ext cx="960120" cy="960120"/>
          </a:xfrm>
          <a:prstGeom prst="rect">
            <a:avLst/>
          </a:prstGeom>
        </p:spPr>
      </p:pic>
      <p:sp>
        <p:nvSpPr>
          <p:cNvPr id="114" name="row 3 reward 4"/>
          <p:cNvSpPr txBox="1"/>
          <p:nvPr/>
        </p:nvSpPr>
        <p:spPr>
          <a:xfrm>
            <a:off x="5737746" y="5458968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0.50</a:t>
            </a:r>
            <a:endParaRPr lang="en-US" sz="1200" dirty="0"/>
          </a:p>
        </p:txBody>
      </p:sp>
      <p:sp>
        <p:nvSpPr>
          <p:cNvPr id="115" name="row 3 advantage bar 4"/>
          <p:cNvSpPr/>
          <p:nvPr/>
        </p:nvSpPr>
        <p:spPr>
          <a:xfrm>
            <a:off x="6351137" y="5696712"/>
            <a:ext cx="155974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6" name="row 3 advantage axis 4"/>
          <p:cNvSpPr/>
          <p:nvPr/>
        </p:nvSpPr>
        <p:spPr>
          <a:xfrm>
            <a:off x="6351137" y="5669280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17" name="row 3 advantage 4"/>
          <p:cNvSpPr txBox="1"/>
          <p:nvPr/>
        </p:nvSpPr>
        <p:spPr>
          <a:xfrm>
            <a:off x="5737746" y="5815584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+0.15</a:t>
            </a:r>
            <a:endParaRPr lang="en-US" sz="1050" dirty="0"/>
          </a:p>
        </p:txBody>
      </p:sp>
      <p:pic>
        <p:nvPicPr>
          <p:cNvPr id="118" name="row 3 sample 5" descr="/projects/illinois/eng/ece/wpk/bimrose2/drawing_vlm/results/figures/real_parts/parts/F_73525_7f6b2f67_0_medium/c4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97859" y="4471416"/>
            <a:ext cx="960120" cy="960120"/>
          </a:xfrm>
          <a:prstGeom prst="rect">
            <a:avLst/>
          </a:prstGeom>
        </p:spPr>
      </p:pic>
      <p:sp>
        <p:nvSpPr>
          <p:cNvPr id="119" name="row 3 reward 5"/>
          <p:cNvSpPr txBox="1"/>
          <p:nvPr/>
        </p:nvSpPr>
        <p:spPr>
          <a:xfrm>
            <a:off x="6964528" y="5458968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0.09</a:t>
            </a:r>
            <a:endParaRPr lang="en-US" sz="1200" dirty="0"/>
          </a:p>
        </p:txBody>
      </p:sp>
      <p:sp>
        <p:nvSpPr>
          <p:cNvPr id="120" name="row 3 advantage bar 5"/>
          <p:cNvSpPr/>
          <p:nvPr/>
        </p:nvSpPr>
        <p:spPr>
          <a:xfrm>
            <a:off x="7310915" y="5696712"/>
            <a:ext cx="267004" cy="100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1" name="row 3 advantage axis 5"/>
          <p:cNvSpPr/>
          <p:nvPr/>
        </p:nvSpPr>
        <p:spPr>
          <a:xfrm>
            <a:off x="7577919" y="5669280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22" name="row 3 advantage 5"/>
          <p:cNvSpPr txBox="1"/>
          <p:nvPr/>
        </p:nvSpPr>
        <p:spPr>
          <a:xfrm>
            <a:off x="6964528" y="5815584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 −0.26</a:t>
            </a:r>
            <a:endParaRPr lang="en-US" sz="1050" dirty="0"/>
          </a:p>
        </p:txBody>
      </p:sp>
      <p:pic>
        <p:nvPicPr>
          <p:cNvPr id="123" name="row 3 sample 6" descr="/projects/illinois/eng/ece/wpk/bimrose2/drawing_vlm/results/figures/real_parts/parts/F_73525_7f6b2f67_0_medium/c5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24640" y="4471416"/>
            <a:ext cx="960120" cy="960120"/>
          </a:xfrm>
          <a:prstGeom prst="rect">
            <a:avLst/>
          </a:prstGeom>
        </p:spPr>
      </p:pic>
      <p:sp>
        <p:nvSpPr>
          <p:cNvPr id="124" name="row 3 reward 6"/>
          <p:cNvSpPr txBox="1"/>
          <p:nvPr/>
        </p:nvSpPr>
        <p:spPr>
          <a:xfrm>
            <a:off x="8191310" y="5458968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0.40</a:t>
            </a:r>
            <a:endParaRPr lang="en-US" sz="1200" dirty="0"/>
          </a:p>
        </p:txBody>
      </p:sp>
      <p:sp>
        <p:nvSpPr>
          <p:cNvPr id="125" name="row 3 advantage bar 6"/>
          <p:cNvSpPr/>
          <p:nvPr/>
        </p:nvSpPr>
        <p:spPr>
          <a:xfrm>
            <a:off x="8804700" y="5696712"/>
            <a:ext cx="49900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6" name="row 3 advantage axis 6"/>
          <p:cNvSpPr/>
          <p:nvPr/>
        </p:nvSpPr>
        <p:spPr>
          <a:xfrm>
            <a:off x="8804700" y="5669280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27" name="row 3 advantage 6"/>
          <p:cNvSpPr txBox="1"/>
          <p:nvPr/>
        </p:nvSpPr>
        <p:spPr>
          <a:xfrm>
            <a:off x="8191310" y="5815584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+0.05</a:t>
            </a:r>
            <a:endParaRPr lang="en-US" sz="1050" dirty="0"/>
          </a:p>
        </p:txBody>
      </p:sp>
      <p:pic>
        <p:nvPicPr>
          <p:cNvPr id="128" name="row 3 sample 7" descr="/projects/illinois/eng/ece/wpk/bimrose2/drawing_vlm/results/figures/real_parts/parts/F_73525_7f6b2f67_0_medium/c6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51422" y="4471416"/>
            <a:ext cx="960120" cy="960120"/>
          </a:xfrm>
          <a:prstGeom prst="rect">
            <a:avLst/>
          </a:prstGeom>
        </p:spPr>
      </p:pic>
      <p:sp>
        <p:nvSpPr>
          <p:cNvPr id="129" name="row 3 reward 7"/>
          <p:cNvSpPr txBox="1"/>
          <p:nvPr/>
        </p:nvSpPr>
        <p:spPr>
          <a:xfrm>
            <a:off x="9418091" y="5458968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0.54</a:t>
            </a:r>
            <a:endParaRPr lang="en-US" sz="1200" dirty="0"/>
          </a:p>
        </p:txBody>
      </p:sp>
      <p:sp>
        <p:nvSpPr>
          <p:cNvPr id="130" name="row 3 advantage bar 7"/>
          <p:cNvSpPr/>
          <p:nvPr/>
        </p:nvSpPr>
        <p:spPr>
          <a:xfrm>
            <a:off x="10031482" y="5696712"/>
            <a:ext cx="201652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1" name="row 3 advantage axis 7"/>
          <p:cNvSpPr/>
          <p:nvPr/>
        </p:nvSpPr>
        <p:spPr>
          <a:xfrm>
            <a:off x="10031482" y="5669280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32" name="row 3 advantage 7"/>
          <p:cNvSpPr txBox="1"/>
          <p:nvPr/>
        </p:nvSpPr>
        <p:spPr>
          <a:xfrm>
            <a:off x="9418091" y="5815584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+0.19</a:t>
            </a:r>
            <a:endParaRPr lang="en-US" sz="1050" dirty="0"/>
          </a:p>
        </p:txBody>
      </p:sp>
      <p:pic>
        <p:nvPicPr>
          <p:cNvPr id="133" name="row 3 sample 8" descr="/projects/illinois/eng/ece/wpk/bimrose2/drawing_vlm/results/figures/real_parts/parts/F_73525_7f6b2f67_0_medium/c7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78204" y="4471416"/>
            <a:ext cx="960120" cy="960120"/>
          </a:xfrm>
          <a:prstGeom prst="rect">
            <a:avLst/>
          </a:prstGeom>
        </p:spPr>
      </p:pic>
      <p:sp>
        <p:nvSpPr>
          <p:cNvPr id="134" name="row 3 reward 8"/>
          <p:cNvSpPr txBox="1"/>
          <p:nvPr/>
        </p:nvSpPr>
        <p:spPr>
          <a:xfrm>
            <a:off x="10644873" y="5458968"/>
            <a:ext cx="12267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 0.52</a:t>
            </a:r>
            <a:endParaRPr lang="en-US" sz="1200" dirty="0"/>
          </a:p>
        </p:txBody>
      </p:sp>
      <p:sp>
        <p:nvSpPr>
          <p:cNvPr id="135" name="row 3 advantage bar 8"/>
          <p:cNvSpPr/>
          <p:nvPr/>
        </p:nvSpPr>
        <p:spPr>
          <a:xfrm>
            <a:off x="11258264" y="5696712"/>
            <a:ext cx="174103" cy="1005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6" name="row 3 advantage axis 8"/>
          <p:cNvSpPr/>
          <p:nvPr/>
        </p:nvSpPr>
        <p:spPr>
          <a:xfrm>
            <a:off x="11258264" y="5669280"/>
            <a:ext cx="0" cy="15544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37" name="row 3 advantage 8"/>
          <p:cNvSpPr txBox="1"/>
          <p:nvPr/>
        </p:nvSpPr>
        <p:spPr>
          <a:xfrm>
            <a:off x="10644873" y="5815584"/>
            <a:ext cx="12267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+0.17</a:t>
            </a:r>
            <a:endParaRPr lang="en-US" sz="1050" dirty="0"/>
          </a:p>
        </p:txBody>
      </p:sp>
      <p:sp>
        <p:nvSpPr>
          <p:cNvPr id="138" name="footnote"/>
          <p:cNvSpPr txBox="1"/>
          <p:nvPr/>
        </p:nvSpPr>
        <p:spPr>
          <a:xfrm>
            <a:off x="411480" y="6025896"/>
            <a:ext cx="11460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Samples from the fine-tuned starting model (before GRPO). Each update raises the probability of programs with A &gt; 0 and lowers it for A &lt; 0, so the model learns from relative quality even when no sample is exactly right (handwheel).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awing to CAD">
  <a:themeElements>
    <a:clrScheme name="Drawing to CAD">
      <a:dk1>
        <a:srgbClr val="000000"/>
      </a:dk1>
      <a:lt1>
        <a:srgbClr val="FFFFFF"/>
      </a:lt1>
      <a:dk2>
        <a:srgbClr val="13294B"/>
      </a:dk2>
      <a:lt2>
        <a:srgbClr val="EEF2F8"/>
      </a:lt2>
      <a:accent1>
        <a:srgbClr val="E84A27"/>
      </a:accent1>
      <a:accent2>
        <a:srgbClr val="8A8F99"/>
      </a:accent2>
      <a:accent3>
        <a:srgbClr val="5A5F69"/>
      </a:accent3>
      <a:accent4>
        <a:srgbClr val="D3DEE0"/>
      </a:accent4>
      <a:accent5>
        <a:srgbClr val="EEF4F0"/>
      </a:accent5>
      <a:accent6>
        <a:srgbClr val="D6DEEA"/>
      </a:accent6>
      <a:hlink>
        <a:srgbClr val="2F6FD6"/>
      </a:hlink>
      <a:folHlink>
        <a:srgbClr val="5A5F69"/>
      </a:folHlink>
    </a:clrScheme>
    <a:fontScheme name="Drawing to CA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GRPO group rewards</dc:title>
  <dc:subject>PptxGenJS Presentation</dc:subject>
  <dc:creator>PptxGenJS</dc:creator>
  <cp:lastModifiedBy>PptxGenJS</cp:lastModifiedBy>
  <cp:revision>1</cp:revision>
  <dcterms:created xsi:type="dcterms:W3CDTF">2026-10-13T20:53:48Z</dcterms:created>
  <dcterms:modified xsi:type="dcterms:W3CDTF">2026-10-13T20:53:48Z</dcterms:modified>
</cp:coreProperties>
</file>