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 1: e55 = Qwen3.8-27B full fine-tune (FSDP2, lr 6e-6, seq 5120, batch 64), vision tower frozen; STaR/RFT rounds keep own generations at IoU &gt;= 0.8. Base Qwen3.8-27B with no fine-tune: 6.1% of programs execute, vote 0.082 on bench B (hallucinated build123d API); e55: 79.9% execute, vote 0.509.
Box 2: GRPO on e55 + LoRA r64, G = 8 rollouts per part (vLLM), reward = exact IoU vs ground truth (0 if the program fails), group-normalised advantages, lr 1e-5 to 2e-5, T 1.0, trained on the raw sampled text (fixes a format blind spot behind the late collapses). Expert iteration: RL policy samples 16 programs on 8,121 hard training parts + ground-truth-selected rp3 / DeepSeek repair search -&gt; tier of 5,502 programs &gt;= 0.75 IoU -&gt; LoRA SFT -&gt; short GRPO (rft2_rl step 60).
Chart, bench B (280 parts, frozen before any model saw it, never used to pick checkpoints): SFT e55 / GRPO ent_t10 s120 / round 1 rft1_rl2 s120 / round 2 rft2_rl s60. Vote 0.509 / 0.640 / 0.651 / 0.665; best of 8 0.595 / 0.696 / 0.708 / 0.732; single draw 0.402 / 0.625 / 0.628 / 0.625. Round 2 vs round 1: vote +0.014 [+0.003, +0.025], best of 8 +0.023 [+0.014, +0.032]. The GRPO point is the best of 3 seeds (seed mean on the 144 bench: vote 0.614 vs 0.639). Full system with rp3 multi-start repair: e55 0.664 -&gt; round 2 0.721, +0.057 [+0.036, +0.078]. Gains plateau around vote 0.65-0.68 across all recipes.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75488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75488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Figure 3: Fine Tuning</a:t>
            </a:r>
            <a:endParaRPr lang="en-US" sz="3200" dirty="0"/>
          </a:p>
        </p:txBody>
      </p:sp>
      <p:sp>
        <p:nvSpPr>
          <p:cNvPr id="3" name="box 1 frame"/>
          <p:cNvSpPr/>
          <p:nvPr/>
        </p:nvSpPr>
        <p:spPr>
          <a:xfrm>
            <a:off x="1673352" y="1444752"/>
            <a:ext cx="2414016" cy="3959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" name="box 2 frame"/>
          <p:cNvSpPr/>
          <p:nvPr/>
        </p:nvSpPr>
        <p:spPr>
          <a:xfrm>
            <a:off x="4572000" y="1444752"/>
            <a:ext cx="6144768" cy="39593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" name="stage arrow"/>
          <p:cNvSpPr/>
          <p:nvPr/>
        </p:nvSpPr>
        <p:spPr>
          <a:xfrm>
            <a:off x="4087368" y="3424428"/>
            <a:ext cx="48463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box 1 header"/>
          <p:cNvSpPr txBox="1"/>
          <p:nvPr/>
        </p:nvSpPr>
        <p:spPr>
          <a:xfrm>
            <a:off x="1673352" y="1572768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Supervised FT</a:t>
            </a:r>
            <a:endParaRPr lang="en-US" sz="1600" dirty="0"/>
          </a:p>
        </p:txBody>
      </p:sp>
      <p:sp>
        <p:nvSpPr>
          <p:cNvPr id="7" name="box 2 header"/>
          <p:cNvSpPr txBox="1"/>
          <p:nvPr/>
        </p:nvSpPr>
        <p:spPr>
          <a:xfrm>
            <a:off x="4572000" y="1572768"/>
            <a:ext cx="6144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GRPO Reinforcement Learning</a:t>
            </a:r>
            <a:endParaRPr lang="en-US" sz="1600" dirty="0"/>
          </a:p>
        </p:txBody>
      </p:sp>
      <p:sp>
        <p:nvSpPr>
          <p:cNvPr id="8" name="box 1 recipe"/>
          <p:cNvSpPr txBox="1"/>
          <p:nvPr/>
        </p:nvSpPr>
        <p:spPr>
          <a:xfrm>
            <a:off x="1801368" y="2011680"/>
            <a:ext cx="215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Qwen3.8-27B vision-language model, full fine-tune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Drawing sheet → build123d program pairs (Zero-to-CAD-derived corpus)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Mix: own correct programs (IoU ≥ 0.8) 60%, reasoning traces 20%, ground truth 20%</a:t>
            </a:r>
            <a:endParaRPr lang="en-US" sz="1200" dirty="0"/>
          </a:p>
        </p:txBody>
      </p:sp>
      <p:sp>
        <p:nvSpPr>
          <p:cNvPr id="9" name="sft exec value"/>
          <p:cNvSpPr txBox="1"/>
          <p:nvPr/>
        </p:nvSpPr>
        <p:spPr>
          <a:xfrm>
            <a:off x="1764792" y="393192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6% → 80%</a:t>
            </a:r>
            <a:endParaRPr lang="en-US" sz="2200" dirty="0"/>
          </a:p>
        </p:txBody>
      </p:sp>
      <p:sp>
        <p:nvSpPr>
          <p:cNvPr id="10" name="sft exec label"/>
          <p:cNvSpPr txBox="1"/>
          <p:nvPr/>
        </p:nvSpPr>
        <p:spPr>
          <a:xfrm>
            <a:off x="1764792" y="431596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programs that run</a:t>
            </a:r>
            <a:endParaRPr lang="en-US" sz="1100" dirty="0"/>
          </a:p>
        </p:txBody>
      </p:sp>
      <p:sp>
        <p:nvSpPr>
          <p:cNvPr id="11" name="sft iou value"/>
          <p:cNvSpPr txBox="1"/>
          <p:nvPr/>
        </p:nvSpPr>
        <p:spPr>
          <a:xfrm>
            <a:off x="1764792" y="464515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0.08 → 0.51</a:t>
            </a:r>
            <a:endParaRPr lang="en-US" sz="2200" dirty="0"/>
          </a:p>
        </p:txBody>
      </p:sp>
      <p:sp>
        <p:nvSpPr>
          <p:cNvPr id="12" name="sft iou label"/>
          <p:cNvSpPr txBox="1"/>
          <p:nvPr/>
        </p:nvSpPr>
        <p:spPr>
          <a:xfrm>
            <a:off x="1764792" y="50292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real-part IoU (vote), base → SFT</a:t>
            </a:r>
            <a:endParaRPr lang="en-US" sz="1100" dirty="0"/>
          </a:p>
        </p:txBody>
      </p:sp>
      <p:sp>
        <p:nvSpPr>
          <p:cNvPr id="13" name="loop step 1"/>
          <p:cNvSpPr/>
          <p:nvPr/>
        </p:nvSpPr>
        <p:spPr>
          <a:xfrm>
            <a:off x="4736592" y="2011680"/>
            <a:ext cx="1188720" cy="603504"/>
          </a:xfrm>
          <a:prstGeom prst="roundRect">
            <a:avLst>
              <a:gd name="adj" fmla="val 12121"/>
            </a:avLst>
          </a:prstGeom>
          <a:solidFill>
            <a:schemeClr val="accent5"/>
          </a:solidFill>
          <a:ln w="12700"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Sample 8 programs per drawing</a:t>
            </a:r>
            <a:endParaRPr lang="en-US" sz="1100" dirty="0"/>
          </a:p>
        </p:txBody>
      </p:sp>
      <p:sp>
        <p:nvSpPr>
          <p:cNvPr id="14" name="loop step 2"/>
          <p:cNvSpPr/>
          <p:nvPr/>
        </p:nvSpPr>
        <p:spPr>
          <a:xfrm>
            <a:off x="6163056" y="2011680"/>
            <a:ext cx="1188720" cy="603504"/>
          </a:xfrm>
          <a:prstGeom prst="roundRect">
            <a:avLst>
              <a:gd name="adj" fmla="val 12121"/>
            </a:avLst>
          </a:prstGeom>
          <a:solidFill>
            <a:schemeClr val="accent5"/>
          </a:solidFill>
          <a:ln w="12700"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Run each; reward = IoU vs ground truth</a:t>
            </a:r>
            <a:endParaRPr lang="en-US" sz="1100" dirty="0"/>
          </a:p>
        </p:txBody>
      </p:sp>
      <p:sp>
        <p:nvSpPr>
          <p:cNvPr id="15" name="loop step 3"/>
          <p:cNvSpPr/>
          <p:nvPr/>
        </p:nvSpPr>
        <p:spPr>
          <a:xfrm>
            <a:off x="6163056" y="2871216"/>
            <a:ext cx="1188720" cy="603504"/>
          </a:xfrm>
          <a:prstGeom prst="roundRect">
            <a:avLst>
              <a:gd name="adj" fmla="val 12121"/>
            </a:avLst>
          </a:prstGeom>
          <a:solidFill>
            <a:schemeClr val="accent5"/>
          </a:solidFill>
          <a:ln w="12700"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Compare to the group average</a:t>
            </a:r>
            <a:endParaRPr lang="en-US" sz="1100" dirty="0"/>
          </a:p>
        </p:txBody>
      </p:sp>
      <p:sp>
        <p:nvSpPr>
          <p:cNvPr id="16" name="loop step 4"/>
          <p:cNvSpPr/>
          <p:nvPr/>
        </p:nvSpPr>
        <p:spPr>
          <a:xfrm>
            <a:off x="4736592" y="2871216"/>
            <a:ext cx="1188720" cy="603504"/>
          </a:xfrm>
          <a:prstGeom prst="roundRect">
            <a:avLst>
              <a:gd name="adj" fmla="val 12121"/>
            </a:avLst>
          </a:prstGeom>
          <a:solidFill>
            <a:schemeClr val="accent5"/>
          </a:solidFill>
          <a:ln w="12700"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Update LoRA weights</a:t>
            </a:r>
            <a:endParaRPr lang="en-US" sz="1100" dirty="0"/>
          </a:p>
        </p:txBody>
      </p:sp>
      <p:sp>
        <p:nvSpPr>
          <p:cNvPr id="17" name="loop arrow 1"/>
          <p:cNvSpPr/>
          <p:nvPr/>
        </p:nvSpPr>
        <p:spPr>
          <a:xfrm>
            <a:off x="5925312" y="2313432"/>
            <a:ext cx="2377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loop arrow 2"/>
          <p:cNvSpPr/>
          <p:nvPr/>
        </p:nvSpPr>
        <p:spPr>
          <a:xfrm>
            <a:off x="6757416" y="2615184"/>
            <a:ext cx="0" cy="256032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loop arrow 3"/>
          <p:cNvSpPr/>
          <p:nvPr/>
        </p:nvSpPr>
        <p:spPr>
          <a:xfrm flipH="1">
            <a:off x="5925312" y="3172968"/>
            <a:ext cx="2377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loop arrow 4"/>
          <p:cNvSpPr/>
          <p:nvPr/>
        </p:nvSpPr>
        <p:spPr>
          <a:xfrm flipV="1">
            <a:off x="5330952" y="2615184"/>
            <a:ext cx="0" cy="256032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loop caption"/>
          <p:cNvSpPr txBox="1"/>
          <p:nvPr/>
        </p:nvSpPr>
        <p:spPr>
          <a:xfrm>
            <a:off x="4736592" y="354787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Hard real training parts (CADBench, DeepCAD); LoRA on the SFT model</a:t>
            </a:r>
            <a:endParaRPr lang="en-US" sz="1000" dirty="0"/>
          </a:p>
        </p:txBody>
      </p:sp>
      <p:sp>
        <p:nvSpPr>
          <p:cNvPr id="22" name="expert iteration header"/>
          <p:cNvSpPr txBox="1"/>
          <p:nvPr/>
        </p:nvSpPr>
        <p:spPr>
          <a:xfrm>
            <a:off x="4736592" y="40416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Expert iteration, 2 rounds</a:t>
            </a:r>
            <a:endParaRPr lang="en-US" sz="1200" dirty="0"/>
          </a:p>
        </p:txBody>
      </p:sp>
      <p:sp>
        <p:nvSpPr>
          <p:cNvPr id="23" name="expert iteration steps"/>
          <p:cNvSpPr txBox="1"/>
          <p:nvPr/>
        </p:nvSpPr>
        <p:spPr>
          <a:xfrm>
            <a:off x="4736592" y="4334256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</a:rPr>
              <a:t>Search 8,121 hard training parts: 16 samples + ground-truth-guided repair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</a:rPr>
              <a:t>Keep the best programs: 5,502 at IoU ≥ 0.75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</a:rPr>
              <a:t>SFT on them, then short GRPO</a:t>
            </a:r>
            <a:endParaRPr lang="en-US" sz="1100" dirty="0"/>
          </a:p>
        </p:txBody>
      </p:sp>
      <p:pic>
        <p:nvPicPr>
          <p:cNvPr id="24" name="progress chart" descr="Mean IoU on 280 held-out real parts after each training st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62088" y="1947672"/>
            <a:ext cx="3017520" cy="3002378"/>
          </a:xfrm>
          <a:prstGeom prst="rect">
            <a:avLst/>
          </a:prstGeom>
        </p:spPr>
      </p:pic>
      <p:sp>
        <p:nvSpPr>
          <p:cNvPr id="25" name="chart caption"/>
          <p:cNvSpPr txBox="1"/>
          <p:nvPr/>
        </p:nvSpPr>
        <p:spPr>
          <a:xfrm>
            <a:off x="7516368" y="496833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Held-out bench B, 280 real parts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Full system with repair: 0.66 → 0.72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awing to CAD">
  <a:themeElements>
    <a:clrScheme name="Drawing to CAD">
      <a:dk1>
        <a:srgbClr val="000000"/>
      </a:dk1>
      <a:lt1>
        <a:srgbClr val="FFFFFF"/>
      </a:lt1>
      <a:dk2>
        <a:srgbClr val="13294B"/>
      </a:dk2>
      <a:lt2>
        <a:srgbClr val="F2F2F2"/>
      </a:lt2>
      <a:accent1>
        <a:srgbClr val="2F6FD6"/>
      </a:accent1>
      <a:accent2>
        <a:srgbClr val="8A8F99"/>
      </a:accent2>
      <a:accent3>
        <a:srgbClr val="5A5F69"/>
      </a:accent3>
      <a:accent4>
        <a:srgbClr val="E84A27"/>
      </a:accent4>
      <a:accent5>
        <a:srgbClr val="E8EDF5"/>
      </a:accent5>
      <a:accent6>
        <a:srgbClr val="4D4D4D"/>
      </a:accent6>
      <a:hlink>
        <a:srgbClr val="2F6FD6"/>
      </a:hlink>
      <a:folHlink>
        <a:srgbClr val="5A5F69"/>
      </a:folHlink>
    </a:clrScheme>
    <a:fontScheme name="Drawing to CA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3: Fine Tuning</dc:title>
  <dc:subject>PptxGenJS Presentation</dc:subject>
  <dc:creator>PptxGenJS</dc:creator>
  <cp:lastModifiedBy>PptxGenJS</cp:lastModifiedBy>
  <cp:revision>1</cp:revision>
  <dcterms:created xsi:type="dcterms:W3CDTF">2026-10-12T21:32:40Z</dcterms:created>
  <dcterms:modified xsi:type="dcterms:W3CDTF">2026-10-12T21:32:40Z</dcterms:modified>
</cp:coreProperties>
</file>