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 B (280 real parts, never used for selection), medoid of 8. Base Qwen3.8-27B: vote 0.082, 6.1% of programs execute (hallucinated build123d API, e.g. Box(centered=...), Cylinder(pos=...)). SFT e55: full fine-tune on ~500k drawing-code pairs, mix 60% own correct programs (IoU &gt;= 0.8) / 20% Kimi-K3 reasoning traces / 20% ground truth; vote 0.509. GRPO: LoRA on e55, 8 rollouts per drawing, reward = IoU (0 if the program fails), advantage = reward - group mean; plus two self-improvement rounds (search hard training parts, fine-tune on the best programs, short GRPO): rft2_rl s60, vote 0.665. Example rewards: synthetic part 1fbfa3c8, e55 candidates (group mean 0.81).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Handwheel = CADBench Fusion 360 part F_73525. Start = e55 candidate 7 (third distinct start of the served chain), IoU 0.52. Repairer rp3 (full fine-tune of e55) sees the target drawing, the candidate's drawing (same draftwright compiler) and the code, samples 16 repairs per round (T 0.7). Each repair is executed, redrawn and scored by render-compare (v3, per-view match, geometry separated from blue annotations; r = 0.67 with true IoU). The best is accepted only if the score improves by 0.1; up to 6 rounds; 3 chains from the top-3 starts, final = best score. This chain: 0.52 -&gt; 0.35 (round 1) -&gt; 0.93 (round 3). Real bench: e55 medoid 0.537 -&gt; one chain 0.667 -&gt; 3 chains 0.695 (e55 best of 8: 0.591). Overlay: front views of the target (navy) and of the start candidate's drawing (orange where it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75488" y="256032"/>
            <a:ext cx="1124712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75488" y="256032"/>
            <a:ext cx="11247120" cy="685800"/>
          </a:xfrm>
          <a:prstGeom prst="rect">
            <a:avLst/>
          </a:prstGeom>
          <a:noFill/>
          <a:ln/>
        </p:spPr>
        <p:txBody>
          <a:bodyPr wrap="square" lIns="0" tIns="0" rIns="0" bIns="0" rtlCol="0" anchor="ctr"/>
          <a:lstStyle/>
          <a:p>
            <a:pPr algn="l" indent="0" marL="0">
              <a:buNone/>
            </a:pPr>
            <a:r>
              <a:rPr lang="en-US" sz="3600" b="1" dirty="0">
                <a:solidFill>
                  <a:schemeClr val="tx2"/>
                </a:solidFill>
              </a:rPr>
              <a:t>Figure 3: Fine Tuning</a:t>
            </a:r>
            <a:endParaRPr lang="en-US" sz="3600" dirty="0"/>
          </a:p>
        </p:txBody>
      </p:sp>
      <p:sp>
        <p:nvSpPr>
          <p:cNvPr id="3" name="1 frame"/>
          <p:cNvSpPr/>
          <p:nvPr/>
        </p:nvSpPr>
        <p:spPr>
          <a:xfrm>
            <a:off x="1002640" y="1152144"/>
            <a:ext cx="3017520" cy="3209544"/>
          </a:xfrm>
          <a:prstGeom prst="rect">
            <a:avLst/>
          </a:prstGeom>
          <a:solidFill>
            <a:schemeClr val="bg1"/>
          </a:solidFill>
          <a:ln w="22225">
            <a:solidFill>
              <a:schemeClr val="tx1"/>
            </a:solidFill>
            <a:prstDash val="solid"/>
          </a:ln>
        </p:spPr>
      </p:sp>
      <p:sp>
        <p:nvSpPr>
          <p:cNvPr id="4" name="1 title"/>
          <p:cNvSpPr txBox="1"/>
          <p:nvPr/>
        </p:nvSpPr>
        <p:spPr>
          <a:xfrm>
            <a:off x="1002640" y="1243584"/>
            <a:ext cx="3017520" cy="384048"/>
          </a:xfrm>
          <a:prstGeom prst="rect">
            <a:avLst/>
          </a:prstGeom>
          <a:noFill/>
          <a:ln/>
        </p:spPr>
        <p:txBody>
          <a:bodyPr wrap="square" lIns="0" tIns="0" rIns="0" bIns="0" rtlCol="0" anchor="ctr"/>
          <a:lstStyle/>
          <a:p>
            <a:pPr algn="ctr" indent="0" marL="0">
              <a:buNone/>
            </a:pPr>
            <a:r>
              <a:rPr lang="en-US" sz="2000" b="1" dirty="0">
                <a:solidFill>
                  <a:schemeClr val="tx2"/>
                </a:solidFill>
              </a:rPr>
              <a:t>1. Base Model</a:t>
            </a:r>
            <a:endParaRPr lang="en-US" sz="2000" dirty="0"/>
          </a:p>
        </p:txBody>
      </p:sp>
      <p:sp>
        <p:nvSpPr>
          <p:cNvPr id="5" name="1 card"/>
          <p:cNvSpPr/>
          <p:nvPr/>
        </p:nvSpPr>
        <p:spPr>
          <a:xfrm>
            <a:off x="1139800" y="1591056"/>
            <a:ext cx="2743200" cy="676656"/>
          </a:xfrm>
          <a:prstGeom prst="rect">
            <a:avLst/>
          </a:prstGeom>
          <a:solidFill>
            <a:schemeClr val="bg2"/>
          </a:solidFill>
          <a:ln w="9525">
            <a:solidFill>
              <a:schemeClr val="accent6"/>
            </a:solidFill>
            <a:prstDash val="solid"/>
          </a:ln>
        </p:spPr>
      </p:sp>
      <p:sp>
        <p:nvSpPr>
          <p:cNvPr id="6" name="1 card text"/>
          <p:cNvSpPr txBox="1"/>
          <p:nvPr/>
        </p:nvSpPr>
        <p:spPr>
          <a:xfrm>
            <a:off x="1139800" y="1591056"/>
            <a:ext cx="2743200" cy="676656"/>
          </a:xfrm>
          <a:prstGeom prst="rect">
            <a:avLst/>
          </a:prstGeom>
          <a:noFill/>
          <a:ln/>
        </p:spPr>
        <p:txBody>
          <a:bodyPr wrap="square" lIns="0" tIns="0" rIns="0" bIns="0" rtlCol="0" anchor="ctr"/>
          <a:lstStyle/>
          <a:p>
            <a:pPr algn="ctr" indent="0" marL="0">
              <a:buNone/>
            </a:pPr>
            <a:r>
              <a:rPr lang="en-US" sz="1400" b="1" dirty="0">
                <a:solidFill>
                  <a:schemeClr val="tx2"/>
                </a:solidFill>
              </a:rPr>
              <a:t>Qwen3.8-27B</a:t>
            </a:r>
            <a:endParaRPr lang="en-US" sz="1400" dirty="0"/>
          </a:p>
          <a:p>
            <a:pPr algn="ctr" indent="0" marL="0">
              <a:buNone/>
            </a:pPr>
            <a:r>
              <a:rPr lang="en-US" sz="1300" dirty="0">
                <a:solidFill>
                  <a:schemeClr val="accent3"/>
                </a:solidFill>
              </a:rPr>
              <a:t>no fine-tuning</a:t>
            </a:r>
            <a:endParaRPr lang="en-US" sz="1400" dirty="0"/>
          </a:p>
          <a:p>
            <a:pPr algn="ctr" indent="0" marL="0">
              <a:buNone/>
            </a:pPr>
            <a:r>
              <a:rPr lang="en-US" sz="1300" dirty="0">
                <a:solidFill>
                  <a:schemeClr val="accent3"/>
                </a:solidFill>
              </a:rPr>
              <a:t>invents CAD API calls</a:t>
            </a:r>
            <a:endParaRPr lang="en-US" sz="1400" dirty="0"/>
          </a:p>
        </p:txBody>
      </p:sp>
      <p:sp>
        <p:nvSpPr>
          <p:cNvPr id="7" name="1 stat frame"/>
          <p:cNvSpPr/>
          <p:nvPr/>
        </p:nvSpPr>
        <p:spPr>
          <a:xfrm>
            <a:off x="1139800" y="3849624"/>
            <a:ext cx="2743200" cy="402336"/>
          </a:xfrm>
          <a:prstGeom prst="rect">
            <a:avLst/>
          </a:prstGeom>
          <a:solidFill>
            <a:schemeClr val="bg1"/>
          </a:solidFill>
          <a:ln w="22225">
            <a:solidFill>
              <a:schemeClr val="tx2"/>
            </a:solidFill>
            <a:prstDash val="solid"/>
          </a:ln>
        </p:spPr>
      </p:sp>
      <p:sp>
        <p:nvSpPr>
          <p:cNvPr id="8" name="1 stat"/>
          <p:cNvSpPr txBox="1"/>
          <p:nvPr/>
        </p:nvSpPr>
        <p:spPr>
          <a:xfrm>
            <a:off x="1139800" y="3849624"/>
            <a:ext cx="2743200" cy="402336"/>
          </a:xfrm>
          <a:prstGeom prst="rect">
            <a:avLst/>
          </a:prstGeom>
          <a:noFill/>
          <a:ln/>
        </p:spPr>
        <p:txBody>
          <a:bodyPr wrap="square" lIns="0" tIns="0" rIns="0" bIns="0" rtlCol="0" anchor="ctr"/>
          <a:lstStyle/>
          <a:p>
            <a:pPr algn="ctr" indent="0" marL="0">
              <a:buNone/>
            </a:pPr>
            <a:r>
              <a:rPr lang="en-US" sz="2000" b="1" dirty="0">
                <a:solidFill>
                  <a:schemeClr val="tx2"/>
                </a:solidFill>
              </a:rPr>
              <a:t>IoU 0.08</a:t>
            </a:r>
            <a:endParaRPr lang="en-US" sz="2000" dirty="0"/>
          </a:p>
        </p:txBody>
      </p:sp>
      <p:sp>
        <p:nvSpPr>
          <p:cNvPr id="9" name="1 code frame"/>
          <p:cNvSpPr/>
          <p:nvPr/>
        </p:nvSpPr>
        <p:spPr>
          <a:xfrm>
            <a:off x="1139800" y="2359152"/>
            <a:ext cx="2743200" cy="1399032"/>
          </a:xfrm>
          <a:prstGeom prst="rect">
            <a:avLst/>
          </a:prstGeom>
          <a:solidFill>
            <a:schemeClr val="bg1"/>
          </a:solidFill>
          <a:ln w="9525">
            <a:solidFill>
              <a:schemeClr val="accent6"/>
            </a:solidFill>
            <a:prstDash val="solid"/>
          </a:ln>
        </p:spPr>
      </p:sp>
      <p:sp>
        <p:nvSpPr>
          <p:cNvPr id="10" name="1 code"/>
          <p:cNvSpPr txBox="1"/>
          <p:nvPr/>
        </p:nvSpPr>
        <p:spPr>
          <a:xfrm>
            <a:off x="1249528" y="2359152"/>
            <a:ext cx="2560320" cy="1399032"/>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part = Box(80, 50, 10,</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          centered=True)</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part -= Cylinder(pos=(0, 0, 5),</a:t>
            </a:r>
            <a:endParaRPr lang="en-US" sz="1100" dirty="0"/>
          </a:p>
          <a:p>
            <a:pPr indent="0" marL="0">
              <a:buNone/>
            </a:pPr>
            <a:r>
              <a:rPr lang="en-US" sz="1100" dirty="0">
                <a:solidFill>
                  <a:schemeClr val="tx2"/>
                </a:solidFill>
                <a:latin typeface="Courier New" pitchFamily="34" charset="0"/>
                <a:ea typeface="Courier New" pitchFamily="34" charset="-122"/>
                <a:cs typeface="Courier New" pitchFamily="34" charset="-120"/>
              </a:rPr>
              <a:t>                 r=10)</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TypeError: unexpected</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keyword 'centered'</a:t>
            </a:r>
            <a:endParaRPr lang="en-US" sz="1100" dirty="0"/>
          </a:p>
          <a:p>
            <a:pPr indent="0" marL="0">
              <a:buNone/>
            </a:pPr>
            <a:r>
              <a:rPr lang="en-US" sz="1100" i="1" dirty="0">
                <a:solidFill>
                  <a:schemeClr val="accent3"/>
                </a:solidFill>
                <a:latin typeface="Arial" pitchFamily="34" charset="0"/>
                <a:ea typeface="Arial" pitchFamily="34" charset="-122"/>
                <a:cs typeface="Arial" pitchFamily="34" charset="-120"/>
              </a:rPr>
              <a:t>only 6% of programs run</a:t>
            </a:r>
            <a:endParaRPr lang="en-US" sz="1100" dirty="0"/>
          </a:p>
        </p:txBody>
      </p:sp>
      <p:sp>
        <p:nvSpPr>
          <p:cNvPr id="11" name="2 frame"/>
          <p:cNvSpPr/>
          <p:nvPr/>
        </p:nvSpPr>
        <p:spPr>
          <a:xfrm>
            <a:off x="4587088" y="1152144"/>
            <a:ext cx="3017520" cy="3209544"/>
          </a:xfrm>
          <a:prstGeom prst="rect">
            <a:avLst/>
          </a:prstGeom>
          <a:solidFill>
            <a:schemeClr val="bg1"/>
          </a:solidFill>
          <a:ln w="22225">
            <a:solidFill>
              <a:schemeClr val="tx1"/>
            </a:solidFill>
            <a:prstDash val="solid"/>
          </a:ln>
        </p:spPr>
      </p:sp>
      <p:sp>
        <p:nvSpPr>
          <p:cNvPr id="12" name="2 title"/>
          <p:cNvSpPr txBox="1"/>
          <p:nvPr/>
        </p:nvSpPr>
        <p:spPr>
          <a:xfrm>
            <a:off x="4587088" y="1243584"/>
            <a:ext cx="3017520" cy="384048"/>
          </a:xfrm>
          <a:prstGeom prst="rect">
            <a:avLst/>
          </a:prstGeom>
          <a:noFill/>
          <a:ln/>
        </p:spPr>
        <p:txBody>
          <a:bodyPr wrap="square" lIns="0" tIns="0" rIns="0" bIns="0" rtlCol="0" anchor="ctr"/>
          <a:lstStyle/>
          <a:p>
            <a:pPr algn="ctr" indent="0" marL="0">
              <a:buNone/>
            </a:pPr>
            <a:r>
              <a:rPr lang="en-US" sz="2000" b="1" dirty="0">
                <a:solidFill>
                  <a:schemeClr val="tx2"/>
                </a:solidFill>
              </a:rPr>
              <a:t>2. Supervised FT</a:t>
            </a:r>
            <a:endParaRPr lang="en-US" sz="2000" dirty="0"/>
          </a:p>
        </p:txBody>
      </p:sp>
      <p:sp>
        <p:nvSpPr>
          <p:cNvPr id="13" name="2 card"/>
          <p:cNvSpPr/>
          <p:nvPr/>
        </p:nvSpPr>
        <p:spPr>
          <a:xfrm>
            <a:off x="4724248" y="1591056"/>
            <a:ext cx="2743200" cy="676656"/>
          </a:xfrm>
          <a:prstGeom prst="rect">
            <a:avLst/>
          </a:prstGeom>
          <a:solidFill>
            <a:schemeClr val="bg2"/>
          </a:solidFill>
          <a:ln w="9525">
            <a:solidFill>
              <a:schemeClr val="accent6"/>
            </a:solidFill>
            <a:prstDash val="solid"/>
          </a:ln>
        </p:spPr>
      </p:sp>
      <p:sp>
        <p:nvSpPr>
          <p:cNvPr id="14" name="2 card text"/>
          <p:cNvSpPr txBox="1"/>
          <p:nvPr/>
        </p:nvSpPr>
        <p:spPr>
          <a:xfrm>
            <a:off x="4724248" y="1591056"/>
            <a:ext cx="2743200" cy="676656"/>
          </a:xfrm>
          <a:prstGeom prst="rect">
            <a:avLst/>
          </a:prstGeom>
          <a:noFill/>
          <a:ln/>
        </p:spPr>
        <p:txBody>
          <a:bodyPr wrap="square" lIns="0" tIns="0" rIns="0" bIns="0" rtlCol="0" anchor="ctr"/>
          <a:lstStyle/>
          <a:p>
            <a:pPr algn="ctr" indent="0" marL="0">
              <a:buNone/>
            </a:pPr>
            <a:r>
              <a:rPr lang="en-US" sz="1400" b="1" dirty="0">
                <a:solidFill>
                  <a:schemeClr val="tx2"/>
                </a:solidFill>
              </a:rPr>
              <a:t>Full Fine-Tune</a:t>
            </a:r>
            <a:endParaRPr lang="en-US" sz="1400" dirty="0"/>
          </a:p>
          <a:p>
            <a:pPr algn="ctr" indent="0" marL="0">
              <a:buNone/>
            </a:pPr>
            <a:r>
              <a:rPr lang="en-US" sz="1300" dirty="0">
                <a:solidFill>
                  <a:schemeClr val="accent3"/>
                </a:solidFill>
              </a:rPr>
              <a:t>~500k drawing → code pairs</a:t>
            </a:r>
            <a:endParaRPr lang="en-US" sz="1400" dirty="0"/>
          </a:p>
          <a:p>
            <a:pPr algn="ctr" indent="0" marL="0">
              <a:buNone/>
            </a:pPr>
            <a:r>
              <a:rPr lang="en-US" sz="1300" dirty="0">
                <a:solidFill>
                  <a:schemeClr val="accent3"/>
                </a:solidFill>
              </a:rPr>
              <a:t>+ self-training rounds</a:t>
            </a:r>
            <a:endParaRPr lang="en-US" sz="1400" dirty="0"/>
          </a:p>
        </p:txBody>
      </p:sp>
      <p:sp>
        <p:nvSpPr>
          <p:cNvPr id="15" name="2 stat frame"/>
          <p:cNvSpPr/>
          <p:nvPr/>
        </p:nvSpPr>
        <p:spPr>
          <a:xfrm>
            <a:off x="4724248" y="3849624"/>
            <a:ext cx="2743200" cy="402336"/>
          </a:xfrm>
          <a:prstGeom prst="rect">
            <a:avLst/>
          </a:prstGeom>
          <a:solidFill>
            <a:schemeClr val="bg1"/>
          </a:solidFill>
          <a:ln w="22225">
            <a:solidFill>
              <a:schemeClr val="tx2"/>
            </a:solidFill>
            <a:prstDash val="solid"/>
          </a:ln>
        </p:spPr>
      </p:sp>
      <p:sp>
        <p:nvSpPr>
          <p:cNvPr id="16" name="2 stat"/>
          <p:cNvSpPr txBox="1"/>
          <p:nvPr/>
        </p:nvSpPr>
        <p:spPr>
          <a:xfrm>
            <a:off x="4724248" y="3849624"/>
            <a:ext cx="2743200" cy="402336"/>
          </a:xfrm>
          <a:prstGeom prst="rect">
            <a:avLst/>
          </a:prstGeom>
          <a:noFill/>
          <a:ln/>
        </p:spPr>
        <p:txBody>
          <a:bodyPr wrap="square" lIns="0" tIns="0" rIns="0" bIns="0" rtlCol="0" anchor="ctr"/>
          <a:lstStyle/>
          <a:p>
            <a:pPr algn="ctr" indent="0" marL="0">
              <a:buNone/>
            </a:pPr>
            <a:r>
              <a:rPr lang="en-US" sz="2000" b="1" dirty="0">
                <a:solidFill>
                  <a:schemeClr val="tx2"/>
                </a:solidFill>
              </a:rPr>
              <a:t>IoU 0.51</a:t>
            </a:r>
            <a:endParaRPr lang="en-US" sz="2000" dirty="0"/>
          </a:p>
        </p:txBody>
      </p:sp>
      <p:sp>
        <p:nvSpPr>
          <p:cNvPr id="17" name="2 mix label 1"/>
          <p:cNvSpPr txBox="1"/>
          <p:nvPr/>
        </p:nvSpPr>
        <p:spPr>
          <a:xfrm>
            <a:off x="4724248" y="2404872"/>
            <a:ext cx="2743200" cy="237744"/>
          </a:xfrm>
          <a:prstGeom prst="rect">
            <a:avLst/>
          </a:prstGeom>
          <a:noFill/>
          <a:ln/>
        </p:spPr>
        <p:txBody>
          <a:bodyPr wrap="square" lIns="0" tIns="0" rIns="0" bIns="0" rtlCol="0" anchor="ctr"/>
          <a:lstStyle/>
          <a:p>
            <a:pPr algn="l" indent="0" marL="0">
              <a:buNone/>
            </a:pPr>
            <a:r>
              <a:rPr lang="en-US" sz="1200" dirty="0">
                <a:solidFill>
                  <a:schemeClr val="accent3"/>
                </a:solidFill>
              </a:rPr>
              <a:t>Own correct programs</a:t>
            </a:r>
            <a:pPr algn="l" indent="0" marL="0">
              <a:buNone/>
            </a:pPr>
            <a:r>
              <a:rPr lang="en-US" sz="1200" b="1" dirty="0">
                <a:solidFill>
                  <a:schemeClr val="tx2"/>
                </a:solidFill>
              </a:rPr>
              <a:t>  60%</a:t>
            </a:r>
            <a:endParaRPr lang="en-US" sz="1200" dirty="0"/>
          </a:p>
        </p:txBody>
      </p:sp>
      <p:sp>
        <p:nvSpPr>
          <p:cNvPr id="18" name="2 mix bar 1"/>
          <p:cNvSpPr/>
          <p:nvPr/>
        </p:nvSpPr>
        <p:spPr>
          <a:xfrm>
            <a:off x="4724248" y="2660904"/>
            <a:ext cx="1645920" cy="146304"/>
          </a:xfrm>
          <a:prstGeom prst="rect">
            <a:avLst/>
          </a:prstGeom>
          <a:solidFill>
            <a:schemeClr val="tx2"/>
          </a:solidFill>
          <a:ln w="12700">
            <a:solidFill>
              <a:schemeClr val="tx2"/>
            </a:solidFill>
            <a:prstDash val="solid"/>
          </a:ln>
        </p:spPr>
      </p:sp>
      <p:sp>
        <p:nvSpPr>
          <p:cNvPr id="19" name="2 mix label 2"/>
          <p:cNvSpPr txBox="1"/>
          <p:nvPr/>
        </p:nvSpPr>
        <p:spPr>
          <a:xfrm>
            <a:off x="4724248" y="2880360"/>
            <a:ext cx="2743200" cy="237744"/>
          </a:xfrm>
          <a:prstGeom prst="rect">
            <a:avLst/>
          </a:prstGeom>
          <a:noFill/>
          <a:ln/>
        </p:spPr>
        <p:txBody>
          <a:bodyPr wrap="square" lIns="0" tIns="0" rIns="0" bIns="0" rtlCol="0" anchor="ctr"/>
          <a:lstStyle/>
          <a:p>
            <a:pPr algn="l" indent="0" marL="0">
              <a:buNone/>
            </a:pPr>
            <a:r>
              <a:rPr lang="en-US" sz="1200" dirty="0">
                <a:solidFill>
                  <a:schemeClr val="accent3"/>
                </a:solidFill>
              </a:rPr>
              <a:t>Reasoning traces</a:t>
            </a:r>
            <a:pPr algn="l" indent="0" marL="0">
              <a:buNone/>
            </a:pPr>
            <a:r>
              <a:rPr lang="en-US" sz="1200" b="1" dirty="0">
                <a:solidFill>
                  <a:schemeClr val="tx2"/>
                </a:solidFill>
              </a:rPr>
              <a:t>  20%</a:t>
            </a:r>
            <a:endParaRPr lang="en-US" sz="1200" dirty="0"/>
          </a:p>
        </p:txBody>
      </p:sp>
      <p:sp>
        <p:nvSpPr>
          <p:cNvPr id="20" name="2 mix bar 2"/>
          <p:cNvSpPr/>
          <p:nvPr/>
        </p:nvSpPr>
        <p:spPr>
          <a:xfrm>
            <a:off x="4724248" y="3136392"/>
            <a:ext cx="548640" cy="146304"/>
          </a:xfrm>
          <a:prstGeom prst="rect">
            <a:avLst/>
          </a:prstGeom>
          <a:solidFill>
            <a:schemeClr val="accent2"/>
          </a:solidFill>
          <a:ln w="12700">
            <a:solidFill>
              <a:schemeClr val="accent2"/>
            </a:solidFill>
            <a:prstDash val="solid"/>
          </a:ln>
        </p:spPr>
      </p:sp>
      <p:sp>
        <p:nvSpPr>
          <p:cNvPr id="21" name="2 mix label 3"/>
          <p:cNvSpPr txBox="1"/>
          <p:nvPr/>
        </p:nvSpPr>
        <p:spPr>
          <a:xfrm>
            <a:off x="4724248" y="3355848"/>
            <a:ext cx="2743200" cy="237744"/>
          </a:xfrm>
          <a:prstGeom prst="rect">
            <a:avLst/>
          </a:prstGeom>
          <a:noFill/>
          <a:ln/>
        </p:spPr>
        <p:txBody>
          <a:bodyPr wrap="square" lIns="0" tIns="0" rIns="0" bIns="0" rtlCol="0" anchor="ctr"/>
          <a:lstStyle/>
          <a:p>
            <a:pPr algn="l" indent="0" marL="0">
              <a:buNone/>
            </a:pPr>
            <a:r>
              <a:rPr lang="en-US" sz="1200" dirty="0">
                <a:solidFill>
                  <a:schemeClr val="accent3"/>
                </a:solidFill>
              </a:rPr>
              <a:t>Ground-truth code</a:t>
            </a:r>
            <a:pPr algn="l" indent="0" marL="0">
              <a:buNone/>
            </a:pPr>
            <a:r>
              <a:rPr lang="en-US" sz="1200" b="1" dirty="0">
                <a:solidFill>
                  <a:schemeClr val="tx2"/>
                </a:solidFill>
              </a:rPr>
              <a:t>  20%</a:t>
            </a:r>
            <a:endParaRPr lang="en-US" sz="1200" dirty="0"/>
          </a:p>
        </p:txBody>
      </p:sp>
      <p:sp>
        <p:nvSpPr>
          <p:cNvPr id="22" name="2 mix bar 3"/>
          <p:cNvSpPr/>
          <p:nvPr/>
        </p:nvSpPr>
        <p:spPr>
          <a:xfrm>
            <a:off x="4724248" y="3611880"/>
            <a:ext cx="548640" cy="146304"/>
          </a:xfrm>
          <a:prstGeom prst="rect">
            <a:avLst/>
          </a:prstGeom>
          <a:solidFill>
            <a:schemeClr val="accent2"/>
          </a:solidFill>
          <a:ln w="12700">
            <a:solidFill>
              <a:schemeClr val="accent2"/>
            </a:solidFill>
            <a:prstDash val="solid"/>
          </a:ln>
        </p:spPr>
      </p:sp>
      <p:sp>
        <p:nvSpPr>
          <p:cNvPr id="23" name="3 frame"/>
          <p:cNvSpPr/>
          <p:nvPr/>
        </p:nvSpPr>
        <p:spPr>
          <a:xfrm>
            <a:off x="8171536" y="1152144"/>
            <a:ext cx="3017520" cy="3209544"/>
          </a:xfrm>
          <a:prstGeom prst="rect">
            <a:avLst/>
          </a:prstGeom>
          <a:solidFill>
            <a:schemeClr val="bg1"/>
          </a:solidFill>
          <a:ln w="22225">
            <a:solidFill>
              <a:schemeClr val="tx1"/>
            </a:solidFill>
            <a:prstDash val="solid"/>
          </a:ln>
        </p:spPr>
      </p:sp>
      <p:sp>
        <p:nvSpPr>
          <p:cNvPr id="24" name="3 title"/>
          <p:cNvSpPr txBox="1"/>
          <p:nvPr/>
        </p:nvSpPr>
        <p:spPr>
          <a:xfrm>
            <a:off x="8171536" y="1243584"/>
            <a:ext cx="3017520" cy="384048"/>
          </a:xfrm>
          <a:prstGeom prst="rect">
            <a:avLst/>
          </a:prstGeom>
          <a:noFill/>
          <a:ln/>
        </p:spPr>
        <p:txBody>
          <a:bodyPr wrap="square" lIns="0" tIns="0" rIns="0" bIns="0" rtlCol="0" anchor="ctr"/>
          <a:lstStyle/>
          <a:p>
            <a:pPr algn="ctr" indent="0" marL="0">
              <a:buNone/>
            </a:pPr>
            <a:r>
              <a:rPr lang="en-US" sz="2000" b="1" dirty="0">
                <a:solidFill>
                  <a:schemeClr val="tx2"/>
                </a:solidFill>
              </a:rPr>
              <a:t>3. GRPO</a:t>
            </a:r>
            <a:endParaRPr lang="en-US" sz="2000" dirty="0"/>
          </a:p>
        </p:txBody>
      </p:sp>
      <p:sp>
        <p:nvSpPr>
          <p:cNvPr id="25" name="3 card"/>
          <p:cNvSpPr/>
          <p:nvPr/>
        </p:nvSpPr>
        <p:spPr>
          <a:xfrm>
            <a:off x="8308696" y="1591056"/>
            <a:ext cx="2743200" cy="676656"/>
          </a:xfrm>
          <a:prstGeom prst="rect">
            <a:avLst/>
          </a:prstGeom>
          <a:solidFill>
            <a:schemeClr val="bg2"/>
          </a:solidFill>
          <a:ln w="9525">
            <a:solidFill>
              <a:schemeClr val="accent6"/>
            </a:solidFill>
            <a:prstDash val="solid"/>
          </a:ln>
        </p:spPr>
      </p:sp>
      <p:sp>
        <p:nvSpPr>
          <p:cNvPr id="26" name="3 card text"/>
          <p:cNvSpPr txBox="1"/>
          <p:nvPr/>
        </p:nvSpPr>
        <p:spPr>
          <a:xfrm>
            <a:off x="8308696" y="1591056"/>
            <a:ext cx="2743200" cy="676656"/>
          </a:xfrm>
          <a:prstGeom prst="rect">
            <a:avLst/>
          </a:prstGeom>
          <a:noFill/>
          <a:ln/>
        </p:spPr>
        <p:txBody>
          <a:bodyPr wrap="square" lIns="0" tIns="0" rIns="0" bIns="0" rtlCol="0" anchor="ctr"/>
          <a:lstStyle/>
          <a:p>
            <a:pPr algn="ctr" indent="0" marL="0">
              <a:buNone/>
            </a:pPr>
            <a:r>
              <a:rPr lang="en-US" sz="1400" b="1" dirty="0">
                <a:solidFill>
                  <a:schemeClr val="tx2"/>
                </a:solidFill>
              </a:rPr>
              <a:t>Reinforcement Learning</a:t>
            </a:r>
            <a:endParaRPr lang="en-US" sz="1400" dirty="0"/>
          </a:p>
          <a:p>
            <a:pPr algn="ctr" indent="0" marL="0">
              <a:buNone/>
            </a:pPr>
            <a:r>
              <a:rPr lang="en-US" sz="1300" dirty="0">
                <a:solidFill>
                  <a:schemeClr val="accent3"/>
                </a:solidFill>
              </a:rPr>
              <a:t>8 programs per drawing</a:t>
            </a:r>
            <a:endParaRPr lang="en-US" sz="1400" dirty="0"/>
          </a:p>
          <a:p>
            <a:pPr algn="ctr" indent="0" marL="0">
              <a:buNone/>
            </a:pPr>
            <a:r>
              <a:rPr lang="en-US" sz="1300" dirty="0">
                <a:solidFill>
                  <a:schemeClr val="accent3"/>
                </a:solidFill>
              </a:rPr>
              <a:t>reward = IoU vs ground truth</a:t>
            </a:r>
            <a:endParaRPr lang="en-US" sz="1400" dirty="0"/>
          </a:p>
        </p:txBody>
      </p:sp>
      <p:sp>
        <p:nvSpPr>
          <p:cNvPr id="27" name="3 stat frame"/>
          <p:cNvSpPr/>
          <p:nvPr/>
        </p:nvSpPr>
        <p:spPr>
          <a:xfrm>
            <a:off x="8308696" y="3849624"/>
            <a:ext cx="2743200" cy="402336"/>
          </a:xfrm>
          <a:prstGeom prst="rect">
            <a:avLst/>
          </a:prstGeom>
          <a:solidFill>
            <a:schemeClr val="bg1"/>
          </a:solidFill>
          <a:ln w="22225">
            <a:solidFill>
              <a:schemeClr val="tx2"/>
            </a:solidFill>
            <a:prstDash val="solid"/>
          </a:ln>
        </p:spPr>
      </p:sp>
      <p:sp>
        <p:nvSpPr>
          <p:cNvPr id="28" name="3 stat"/>
          <p:cNvSpPr txBox="1"/>
          <p:nvPr/>
        </p:nvSpPr>
        <p:spPr>
          <a:xfrm>
            <a:off x="8308696" y="3849624"/>
            <a:ext cx="2743200" cy="402336"/>
          </a:xfrm>
          <a:prstGeom prst="rect">
            <a:avLst/>
          </a:prstGeom>
          <a:noFill/>
          <a:ln/>
        </p:spPr>
        <p:txBody>
          <a:bodyPr wrap="square" lIns="0" tIns="0" rIns="0" bIns="0" rtlCol="0" anchor="ctr"/>
          <a:lstStyle/>
          <a:p>
            <a:pPr algn="ctr" indent="0" marL="0">
              <a:buNone/>
            </a:pPr>
            <a:r>
              <a:rPr lang="en-US" sz="2000" b="1" dirty="0">
                <a:solidFill>
                  <a:schemeClr val="tx2"/>
                </a:solidFill>
              </a:rPr>
              <a:t>IoU 0.67</a:t>
            </a:r>
            <a:endParaRPr lang="en-US" sz="2000" dirty="0"/>
          </a:p>
        </p:txBody>
      </p:sp>
      <p:pic>
        <p:nvPicPr>
          <p:cNvPr id="29" name="3 candidate 1" descr="/projects/illinois/eng/ece/wpk/bimrose2/drawing_vlm/results/figures/fine_tuning/simple_assets/grpo_c0.png">    </p:cNvPr>
          <p:cNvPicPr>
            <a:picLocks noChangeAspect="1"/>
          </p:cNvPicPr>
          <p:nvPr/>
        </p:nvPicPr>
        <p:blipFill>
          <a:blip r:embed="rId1"/>
          <a:stretch>
            <a:fillRect/>
          </a:stretch>
        </p:blipFill>
        <p:spPr>
          <a:xfrm>
            <a:off x="8363560" y="2400143"/>
            <a:ext cx="576072" cy="393505"/>
          </a:xfrm>
          <a:prstGeom prst="rect">
            <a:avLst/>
          </a:prstGeom>
        </p:spPr>
      </p:pic>
      <p:sp>
        <p:nvSpPr>
          <p:cNvPr id="30" name="3 reward 1"/>
          <p:cNvSpPr txBox="1"/>
          <p:nvPr/>
        </p:nvSpPr>
        <p:spPr>
          <a:xfrm>
            <a:off x="8308696" y="2843784"/>
            <a:ext cx="685800" cy="201168"/>
          </a:xfrm>
          <a:prstGeom prst="rect">
            <a:avLst/>
          </a:prstGeom>
          <a:noFill/>
          <a:ln/>
        </p:spPr>
        <p:txBody>
          <a:bodyPr wrap="square" lIns="0" tIns="0" rIns="0" bIns="0" rtlCol="0" anchor="ctr"/>
          <a:lstStyle/>
          <a:p>
            <a:pPr algn="ctr" indent="0" marL="0">
              <a:buNone/>
            </a:pPr>
            <a:r>
              <a:rPr lang="en-US" sz="1200" dirty="0">
                <a:solidFill>
                  <a:schemeClr val="accent2"/>
                </a:solidFill>
              </a:rPr>
              <a:t>0.72</a:t>
            </a:r>
            <a:endParaRPr lang="en-US" sz="1200" dirty="0"/>
          </a:p>
        </p:txBody>
      </p:sp>
      <p:pic>
        <p:nvPicPr>
          <p:cNvPr id="31" name="3 candidate 2" descr="/projects/illinois/eng/ece/wpk/bimrose2/drawing_vlm/results/figures/fine_tuning/simple_assets/grpo_c1.png">    </p:cNvPr>
          <p:cNvPicPr>
            <a:picLocks noChangeAspect="1"/>
          </p:cNvPicPr>
          <p:nvPr/>
        </p:nvPicPr>
        <p:blipFill>
          <a:blip r:embed="rId2"/>
          <a:stretch>
            <a:fillRect/>
          </a:stretch>
        </p:blipFill>
        <p:spPr>
          <a:xfrm>
            <a:off x="9049360" y="2379173"/>
            <a:ext cx="576072" cy="435446"/>
          </a:xfrm>
          <a:prstGeom prst="rect">
            <a:avLst/>
          </a:prstGeom>
        </p:spPr>
      </p:pic>
      <p:sp>
        <p:nvSpPr>
          <p:cNvPr id="32" name="3 reward 2"/>
          <p:cNvSpPr txBox="1"/>
          <p:nvPr/>
        </p:nvSpPr>
        <p:spPr>
          <a:xfrm>
            <a:off x="8994496" y="2843784"/>
            <a:ext cx="685800" cy="201168"/>
          </a:xfrm>
          <a:prstGeom prst="rect">
            <a:avLst/>
          </a:prstGeom>
          <a:noFill/>
          <a:ln/>
        </p:spPr>
        <p:txBody>
          <a:bodyPr wrap="square" lIns="0" tIns="0" rIns="0" bIns="0" rtlCol="0" anchor="ctr"/>
          <a:lstStyle/>
          <a:p>
            <a:pPr algn="ctr" indent="0" marL="0">
              <a:buNone/>
            </a:pPr>
            <a:r>
              <a:rPr lang="en-US" sz="1200" b="1" dirty="0">
                <a:solidFill>
                  <a:schemeClr val="tx2"/>
                </a:solidFill>
              </a:rPr>
              <a:t>1.00</a:t>
            </a:r>
            <a:endParaRPr lang="en-US" sz="1200" dirty="0"/>
          </a:p>
        </p:txBody>
      </p:sp>
      <p:pic>
        <p:nvPicPr>
          <p:cNvPr id="33" name="3 candidate 3" descr="/projects/illinois/eng/ece/wpk/bimrose2/drawing_vlm/results/figures/fine_tuning/simple_assets/grpo_c2.png">    </p:cNvPr>
          <p:cNvPicPr>
            <a:picLocks noChangeAspect="1"/>
          </p:cNvPicPr>
          <p:nvPr/>
        </p:nvPicPr>
        <p:blipFill>
          <a:blip r:embed="rId3"/>
          <a:stretch>
            <a:fillRect/>
          </a:stretch>
        </p:blipFill>
        <p:spPr>
          <a:xfrm>
            <a:off x="9735160" y="2379173"/>
            <a:ext cx="576072" cy="435446"/>
          </a:xfrm>
          <a:prstGeom prst="rect">
            <a:avLst/>
          </a:prstGeom>
        </p:spPr>
      </p:pic>
      <p:sp>
        <p:nvSpPr>
          <p:cNvPr id="34" name="3 reward 3"/>
          <p:cNvSpPr txBox="1"/>
          <p:nvPr/>
        </p:nvSpPr>
        <p:spPr>
          <a:xfrm>
            <a:off x="9680296" y="2843784"/>
            <a:ext cx="685800" cy="201168"/>
          </a:xfrm>
          <a:prstGeom prst="rect">
            <a:avLst/>
          </a:prstGeom>
          <a:noFill/>
          <a:ln/>
        </p:spPr>
        <p:txBody>
          <a:bodyPr wrap="square" lIns="0" tIns="0" rIns="0" bIns="0" rtlCol="0" anchor="ctr"/>
          <a:lstStyle/>
          <a:p>
            <a:pPr algn="ctr" indent="0" marL="0">
              <a:buNone/>
            </a:pPr>
            <a:r>
              <a:rPr lang="en-US" sz="1200" b="1" dirty="0">
                <a:solidFill>
                  <a:schemeClr val="tx2"/>
                </a:solidFill>
              </a:rPr>
              <a:t>1.00</a:t>
            </a:r>
            <a:endParaRPr lang="en-US" sz="1200" dirty="0"/>
          </a:p>
        </p:txBody>
      </p:sp>
      <p:pic>
        <p:nvPicPr>
          <p:cNvPr id="35" name="3 candidate 4" descr="/projects/illinois/eng/ece/wpk/bimrose2/drawing_vlm/results/figures/fine_tuning/simple_assets/grpo_c3.png">    </p:cNvPr>
          <p:cNvPicPr>
            <a:picLocks noChangeAspect="1"/>
          </p:cNvPicPr>
          <p:nvPr/>
        </p:nvPicPr>
        <p:blipFill>
          <a:blip r:embed="rId4"/>
          <a:stretch>
            <a:fillRect/>
          </a:stretch>
        </p:blipFill>
        <p:spPr>
          <a:xfrm>
            <a:off x="10420960" y="2379173"/>
            <a:ext cx="576072" cy="435446"/>
          </a:xfrm>
          <a:prstGeom prst="rect">
            <a:avLst/>
          </a:prstGeom>
        </p:spPr>
      </p:pic>
      <p:sp>
        <p:nvSpPr>
          <p:cNvPr id="36" name="3 reward 4"/>
          <p:cNvSpPr txBox="1"/>
          <p:nvPr/>
        </p:nvSpPr>
        <p:spPr>
          <a:xfrm>
            <a:off x="10366096" y="2843784"/>
            <a:ext cx="685800" cy="201168"/>
          </a:xfrm>
          <a:prstGeom prst="rect">
            <a:avLst/>
          </a:prstGeom>
          <a:noFill/>
          <a:ln/>
        </p:spPr>
        <p:txBody>
          <a:bodyPr wrap="square" lIns="0" tIns="0" rIns="0" bIns="0" rtlCol="0" anchor="ctr"/>
          <a:lstStyle/>
          <a:p>
            <a:pPr algn="ctr" indent="0" marL="0">
              <a:buNone/>
            </a:pPr>
            <a:r>
              <a:rPr lang="en-US" sz="1200" b="1" dirty="0">
                <a:solidFill>
                  <a:schemeClr val="tx2"/>
                </a:solidFill>
              </a:rPr>
              <a:t>1.00</a:t>
            </a:r>
            <a:endParaRPr lang="en-US" sz="1200" dirty="0"/>
          </a:p>
        </p:txBody>
      </p:sp>
      <p:pic>
        <p:nvPicPr>
          <p:cNvPr id="37" name="3 candidate 5" descr="/projects/illinois/eng/ece/wpk/bimrose2/drawing_vlm/results/figures/fine_tuning/simple_assets/grpo_c4.png">    </p:cNvPr>
          <p:cNvPicPr>
            <a:picLocks noChangeAspect="1"/>
          </p:cNvPicPr>
          <p:nvPr/>
        </p:nvPicPr>
        <p:blipFill>
          <a:blip r:embed="rId5"/>
          <a:stretch>
            <a:fillRect/>
          </a:stretch>
        </p:blipFill>
        <p:spPr>
          <a:xfrm>
            <a:off x="8363560" y="3090848"/>
            <a:ext cx="576072" cy="475136"/>
          </a:xfrm>
          <a:prstGeom prst="rect">
            <a:avLst/>
          </a:prstGeom>
        </p:spPr>
      </p:pic>
      <p:sp>
        <p:nvSpPr>
          <p:cNvPr id="38" name="3 reward 5"/>
          <p:cNvSpPr txBox="1"/>
          <p:nvPr/>
        </p:nvSpPr>
        <p:spPr>
          <a:xfrm>
            <a:off x="8308696" y="3575304"/>
            <a:ext cx="685800" cy="201168"/>
          </a:xfrm>
          <a:prstGeom prst="rect">
            <a:avLst/>
          </a:prstGeom>
          <a:noFill/>
          <a:ln/>
        </p:spPr>
        <p:txBody>
          <a:bodyPr wrap="square" lIns="0" tIns="0" rIns="0" bIns="0" rtlCol="0" anchor="ctr"/>
          <a:lstStyle/>
          <a:p>
            <a:pPr algn="ctr" indent="0" marL="0">
              <a:buNone/>
            </a:pPr>
            <a:r>
              <a:rPr lang="en-US" sz="1200" dirty="0">
                <a:solidFill>
                  <a:schemeClr val="accent2"/>
                </a:solidFill>
              </a:rPr>
              <a:t>0.76</a:t>
            </a:r>
            <a:endParaRPr lang="en-US" sz="1200" dirty="0"/>
          </a:p>
        </p:txBody>
      </p:sp>
      <p:sp>
        <p:nvSpPr>
          <p:cNvPr id="39" name="3 candidate 6"/>
          <p:cNvSpPr txBox="1"/>
          <p:nvPr/>
        </p:nvSpPr>
        <p:spPr>
          <a:xfrm>
            <a:off x="8994496" y="3090672"/>
            <a:ext cx="685800" cy="475488"/>
          </a:xfrm>
          <a:prstGeom prst="rect">
            <a:avLst/>
          </a:prstGeom>
          <a:noFill/>
          <a:ln/>
        </p:spPr>
        <p:txBody>
          <a:bodyPr wrap="square" lIns="0" tIns="0" rIns="0" bIns="0" rtlCol="0" anchor="ctr"/>
          <a:lstStyle/>
          <a:p>
            <a:pPr algn="ctr" indent="0" marL="0">
              <a:buNone/>
            </a:pPr>
            <a:r>
              <a:rPr lang="en-US" sz="1000" dirty="0">
                <a:solidFill>
                  <a:schemeClr val="accent2"/>
                </a:solidFill>
              </a:rPr>
              <a:t>no solid</a:t>
            </a:r>
            <a:endParaRPr lang="en-US" sz="1000" dirty="0"/>
          </a:p>
        </p:txBody>
      </p:sp>
      <p:sp>
        <p:nvSpPr>
          <p:cNvPr id="40" name="3 reward 6"/>
          <p:cNvSpPr txBox="1"/>
          <p:nvPr/>
        </p:nvSpPr>
        <p:spPr>
          <a:xfrm>
            <a:off x="8994496" y="3575304"/>
            <a:ext cx="685800" cy="201168"/>
          </a:xfrm>
          <a:prstGeom prst="rect">
            <a:avLst/>
          </a:prstGeom>
          <a:noFill/>
          <a:ln/>
        </p:spPr>
        <p:txBody>
          <a:bodyPr wrap="square" lIns="0" tIns="0" rIns="0" bIns="0" rtlCol="0" anchor="ctr"/>
          <a:lstStyle/>
          <a:p>
            <a:pPr algn="ctr" indent="0" marL="0">
              <a:buNone/>
            </a:pPr>
            <a:r>
              <a:rPr lang="en-US" sz="1200" dirty="0">
                <a:solidFill>
                  <a:schemeClr val="accent2"/>
                </a:solidFill>
              </a:rPr>
              <a:t>0</a:t>
            </a:r>
            <a:endParaRPr lang="en-US" sz="1200" dirty="0"/>
          </a:p>
        </p:txBody>
      </p:sp>
      <p:pic>
        <p:nvPicPr>
          <p:cNvPr id="41" name="3 candidate 7" descr="/projects/illinois/eng/ece/wpk/bimrose2/drawing_vlm/results/figures/fine_tuning/simple_assets/grpo_c6.png">    </p:cNvPr>
          <p:cNvPicPr>
            <a:picLocks noChangeAspect="1"/>
          </p:cNvPicPr>
          <p:nvPr/>
        </p:nvPicPr>
        <p:blipFill>
          <a:blip r:embed="rId6"/>
          <a:stretch>
            <a:fillRect/>
          </a:stretch>
        </p:blipFill>
        <p:spPr>
          <a:xfrm>
            <a:off x="9735160" y="3110693"/>
            <a:ext cx="576072" cy="435446"/>
          </a:xfrm>
          <a:prstGeom prst="rect">
            <a:avLst/>
          </a:prstGeom>
        </p:spPr>
      </p:pic>
      <p:sp>
        <p:nvSpPr>
          <p:cNvPr id="42" name="3 reward 7"/>
          <p:cNvSpPr txBox="1"/>
          <p:nvPr/>
        </p:nvSpPr>
        <p:spPr>
          <a:xfrm>
            <a:off x="9680296" y="3575304"/>
            <a:ext cx="685800" cy="201168"/>
          </a:xfrm>
          <a:prstGeom prst="rect">
            <a:avLst/>
          </a:prstGeom>
          <a:noFill/>
          <a:ln/>
        </p:spPr>
        <p:txBody>
          <a:bodyPr wrap="square" lIns="0" tIns="0" rIns="0" bIns="0" rtlCol="0" anchor="ctr"/>
          <a:lstStyle/>
          <a:p>
            <a:pPr algn="ctr" indent="0" marL="0">
              <a:buNone/>
            </a:pPr>
            <a:r>
              <a:rPr lang="en-US" sz="1200" b="1" dirty="0">
                <a:solidFill>
                  <a:schemeClr val="tx2"/>
                </a:solidFill>
              </a:rPr>
              <a:t>1.00</a:t>
            </a:r>
            <a:endParaRPr lang="en-US" sz="1200" dirty="0"/>
          </a:p>
        </p:txBody>
      </p:sp>
      <p:pic>
        <p:nvPicPr>
          <p:cNvPr id="43" name="3 candidate 8" descr="/projects/illinois/eng/ece/wpk/bimrose2/drawing_vlm/results/figures/fine_tuning/simple_assets/grpo_c7.png">    </p:cNvPr>
          <p:cNvPicPr>
            <a:picLocks noChangeAspect="1"/>
          </p:cNvPicPr>
          <p:nvPr/>
        </p:nvPicPr>
        <p:blipFill>
          <a:blip r:embed="rId7"/>
          <a:stretch>
            <a:fillRect/>
          </a:stretch>
        </p:blipFill>
        <p:spPr>
          <a:xfrm>
            <a:off x="10420960" y="3110693"/>
            <a:ext cx="576072" cy="435446"/>
          </a:xfrm>
          <a:prstGeom prst="rect">
            <a:avLst/>
          </a:prstGeom>
        </p:spPr>
      </p:pic>
      <p:sp>
        <p:nvSpPr>
          <p:cNvPr id="44" name="3 reward 8"/>
          <p:cNvSpPr txBox="1"/>
          <p:nvPr/>
        </p:nvSpPr>
        <p:spPr>
          <a:xfrm>
            <a:off x="10366096" y="3575304"/>
            <a:ext cx="685800" cy="201168"/>
          </a:xfrm>
          <a:prstGeom prst="rect">
            <a:avLst/>
          </a:prstGeom>
          <a:noFill/>
          <a:ln/>
        </p:spPr>
        <p:txBody>
          <a:bodyPr wrap="square" lIns="0" tIns="0" rIns="0" bIns="0" rtlCol="0" anchor="ctr"/>
          <a:lstStyle/>
          <a:p>
            <a:pPr algn="ctr" indent="0" marL="0">
              <a:buNone/>
            </a:pPr>
            <a:r>
              <a:rPr lang="en-US" sz="1200" b="1" dirty="0">
                <a:solidFill>
                  <a:schemeClr val="tx2"/>
                </a:solidFill>
              </a:rPr>
              <a:t>1.00</a:t>
            </a:r>
            <a:endParaRPr lang="en-US" sz="1200" dirty="0"/>
          </a:p>
        </p:txBody>
      </p:sp>
      <p:sp>
        <p:nvSpPr>
          <p:cNvPr id="45" name="footnote"/>
          <p:cNvSpPr txBox="1"/>
          <p:nvPr/>
        </p:nvSpPr>
        <p:spPr>
          <a:xfrm>
            <a:off x="1002640" y="4498848"/>
            <a:ext cx="10186416" cy="457200"/>
          </a:xfrm>
          <a:prstGeom prst="rect">
            <a:avLst/>
          </a:prstGeom>
          <a:noFill/>
          <a:ln/>
        </p:spPr>
        <p:txBody>
          <a:bodyPr wrap="square" lIns="0" tIns="0" rIns="0" bIns="0" rtlCol="0" anchor="t"/>
          <a:lstStyle/>
          <a:p>
            <a:pPr indent="0" marL="0">
              <a:buNone/>
            </a:pPr>
            <a:r>
              <a:rPr lang="en-US" sz="1200" dirty="0">
                <a:solidFill>
                  <a:schemeClr val="accent3"/>
                </a:solidFill>
              </a:rPr>
              <a:t>IoU: mean volumetric IoU of the selected program on 280 held-out real parts. GRPO includes two self-improvement rounds on hard training parts. Rewards shown for one synthetic part; bold = above the group average, which gets reinforced.</a:t>
            </a:r>
            <a:endParaRPr lang="en-US" sz="1200" dirty="0"/>
          </a:p>
        </p:txBody>
      </p:sp>
      <p:sp>
        <p:nvSpPr>
          <p:cNvPr id="46" name="stage arrow 1"/>
          <p:cNvSpPr/>
          <p:nvPr/>
        </p:nvSpPr>
        <p:spPr>
          <a:xfrm>
            <a:off x="4020160" y="3118104"/>
            <a:ext cx="566928" cy="0"/>
          </a:xfrm>
          <a:prstGeom prst="line">
            <a:avLst/>
          </a:prstGeom>
          <a:noFill/>
          <a:ln w="38100">
            <a:solidFill>
              <a:schemeClr val="tx1"/>
            </a:solidFill>
            <a:prstDash val="solid"/>
            <a:tailEnd type="triangle"/>
          </a:ln>
        </p:spPr>
      </p:sp>
      <p:sp>
        <p:nvSpPr>
          <p:cNvPr id="47" name="stage arrow 2"/>
          <p:cNvSpPr/>
          <p:nvPr/>
        </p:nvSpPr>
        <p:spPr>
          <a:xfrm>
            <a:off x="7604608" y="3118104"/>
            <a:ext cx="566928" cy="0"/>
          </a:xfrm>
          <a:prstGeom prst="line">
            <a:avLst/>
          </a:prstGeom>
          <a:noFill/>
          <a:ln w="38100">
            <a:solidFill>
              <a:schemeClr val="tx1"/>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75488" y="256032"/>
            <a:ext cx="11247120" cy="685800"/>
          </a:xfrm>
          <a:prstGeom prst="rect">
            <a:avLst/>
          </a:prstGeom>
          <a:noFill/>
          <a:ln/>
        </p:spPr>
        <p:txBody>
          <a:bodyPr wrap="square" lIns="0" tIns="0" rIns="0" bIns="0" rtlCol="0" anchor="ctr"/>
          <a:lstStyle/>
          <a:p>
            <a:pPr algn="l" indent="0" marL="0">
              <a:buNone/>
            </a:pPr>
            <a:r>
              <a:rPr lang="en-US" sz="3600" b="1" dirty="0">
                <a:solidFill>
                  <a:schemeClr val="tx2"/>
                </a:solidFill>
              </a:rPr>
              <a:t>Figure 4: Repair Loop</a:t>
            </a:r>
            <a:endParaRPr lang="en-US" sz="3600" dirty="0"/>
          </a:p>
        </p:txBody>
      </p:sp>
      <p:sp>
        <p:nvSpPr>
          <p:cNvPr id="3" name="1 frame"/>
          <p:cNvSpPr/>
          <p:nvPr/>
        </p:nvSpPr>
        <p:spPr>
          <a:xfrm>
            <a:off x="512064" y="1152144"/>
            <a:ext cx="2423160" cy="3209544"/>
          </a:xfrm>
          <a:prstGeom prst="rect">
            <a:avLst/>
          </a:prstGeom>
          <a:solidFill>
            <a:schemeClr val="bg1"/>
          </a:solidFill>
          <a:ln w="22225">
            <a:solidFill>
              <a:schemeClr val="tx1"/>
            </a:solidFill>
            <a:prstDash val="solid"/>
          </a:ln>
        </p:spPr>
      </p:sp>
      <p:sp>
        <p:nvSpPr>
          <p:cNvPr id="4" name="1 title"/>
          <p:cNvSpPr txBox="1"/>
          <p:nvPr/>
        </p:nvSpPr>
        <p:spPr>
          <a:xfrm>
            <a:off x="512064" y="1243584"/>
            <a:ext cx="2423160" cy="384048"/>
          </a:xfrm>
          <a:prstGeom prst="rect">
            <a:avLst/>
          </a:prstGeom>
          <a:noFill/>
          <a:ln/>
        </p:spPr>
        <p:txBody>
          <a:bodyPr wrap="square" lIns="0" tIns="0" rIns="0" bIns="0" rtlCol="0" anchor="ctr"/>
          <a:lstStyle/>
          <a:p>
            <a:pPr algn="ctr" indent="0" marL="0">
              <a:buNone/>
            </a:pPr>
            <a:r>
              <a:rPr lang="en-US" sz="2000" b="1" dirty="0">
                <a:solidFill>
                  <a:schemeClr val="tx2"/>
                </a:solidFill>
              </a:rPr>
              <a:t>1. Candidate</a:t>
            </a:r>
            <a:endParaRPr lang="en-US" sz="2000" dirty="0"/>
          </a:p>
        </p:txBody>
      </p:sp>
      <p:sp>
        <p:nvSpPr>
          <p:cNvPr id="5" name="1 card"/>
          <p:cNvSpPr/>
          <p:nvPr/>
        </p:nvSpPr>
        <p:spPr>
          <a:xfrm>
            <a:off x="649224" y="1591056"/>
            <a:ext cx="2148840" cy="676656"/>
          </a:xfrm>
          <a:prstGeom prst="rect">
            <a:avLst/>
          </a:prstGeom>
          <a:solidFill>
            <a:schemeClr val="bg2"/>
          </a:solidFill>
          <a:ln w="9525">
            <a:solidFill>
              <a:schemeClr val="accent6"/>
            </a:solidFill>
            <a:prstDash val="solid"/>
          </a:ln>
        </p:spPr>
      </p:sp>
      <p:sp>
        <p:nvSpPr>
          <p:cNvPr id="6" name="1 card text"/>
          <p:cNvSpPr txBox="1"/>
          <p:nvPr/>
        </p:nvSpPr>
        <p:spPr>
          <a:xfrm>
            <a:off x="649224" y="1591056"/>
            <a:ext cx="2148840" cy="676656"/>
          </a:xfrm>
          <a:prstGeom prst="rect">
            <a:avLst/>
          </a:prstGeom>
          <a:noFill/>
          <a:ln/>
        </p:spPr>
        <p:txBody>
          <a:bodyPr wrap="square" lIns="0" tIns="0" rIns="0" bIns="0" rtlCol="0" anchor="ctr"/>
          <a:lstStyle/>
          <a:p>
            <a:pPr algn="ctr" indent="0" marL="0">
              <a:buNone/>
            </a:pPr>
            <a:r>
              <a:rPr lang="en-US" sz="1400" b="1" dirty="0">
                <a:solidFill>
                  <a:schemeClr val="tx2"/>
                </a:solidFill>
              </a:rPr>
              <a:t>Generator Pick</a:t>
            </a:r>
            <a:endParaRPr lang="en-US" sz="1400" dirty="0"/>
          </a:p>
          <a:p>
            <a:pPr algn="ctr" indent="0" marL="0">
              <a:buNone/>
            </a:pPr>
            <a:r>
              <a:rPr lang="en-US" sz="1300" dirty="0">
                <a:solidFill>
                  <a:schemeClr val="accent3"/>
                </a:solidFill>
              </a:rPr>
              <a:t>best of 8 candidates</a:t>
            </a:r>
            <a:endParaRPr lang="en-US" sz="1400" dirty="0"/>
          </a:p>
          <a:p>
            <a:pPr algn="ctr" indent="0" marL="0">
              <a:buNone/>
            </a:pPr>
            <a:r>
              <a:rPr lang="en-US" sz="1300" dirty="0">
                <a:solidFill>
                  <a:schemeClr val="accent3"/>
                </a:solidFill>
              </a:rPr>
              <a:t>run to a 3D solid</a:t>
            </a:r>
            <a:endParaRPr lang="en-US" sz="1400" dirty="0"/>
          </a:p>
        </p:txBody>
      </p:sp>
      <p:sp>
        <p:nvSpPr>
          <p:cNvPr id="7" name="1 stat frame"/>
          <p:cNvSpPr/>
          <p:nvPr/>
        </p:nvSpPr>
        <p:spPr>
          <a:xfrm>
            <a:off x="649224" y="3849624"/>
            <a:ext cx="2148840" cy="402336"/>
          </a:xfrm>
          <a:prstGeom prst="rect">
            <a:avLst/>
          </a:prstGeom>
          <a:solidFill>
            <a:schemeClr val="bg1"/>
          </a:solidFill>
          <a:ln w="22225">
            <a:solidFill>
              <a:schemeClr val="tx2"/>
            </a:solidFill>
            <a:prstDash val="solid"/>
          </a:ln>
        </p:spPr>
      </p:sp>
      <p:sp>
        <p:nvSpPr>
          <p:cNvPr id="8" name="1 stat"/>
          <p:cNvSpPr txBox="1"/>
          <p:nvPr/>
        </p:nvSpPr>
        <p:spPr>
          <a:xfrm>
            <a:off x="649224" y="3849624"/>
            <a:ext cx="2148840" cy="402336"/>
          </a:xfrm>
          <a:prstGeom prst="rect">
            <a:avLst/>
          </a:prstGeom>
          <a:noFill/>
          <a:ln/>
        </p:spPr>
        <p:txBody>
          <a:bodyPr wrap="square" lIns="0" tIns="0" rIns="0" bIns="0" rtlCol="0" anchor="ctr"/>
          <a:lstStyle/>
          <a:p>
            <a:pPr algn="ctr" indent="0" marL="0">
              <a:buNone/>
            </a:pPr>
            <a:r>
              <a:rPr lang="en-US" sz="2000" b="1" dirty="0">
                <a:solidFill>
                  <a:schemeClr val="tx2"/>
                </a:solidFill>
              </a:rPr>
              <a:t>IoU 0.52</a:t>
            </a:r>
            <a:endParaRPr lang="en-US" sz="2000" dirty="0"/>
          </a:p>
        </p:txBody>
      </p:sp>
      <p:pic>
        <p:nvPicPr>
          <p:cNvPr id="9" name="1 start render" descr="/projects/illinois/eng/ece/wpk/bimrose2/drawing_vlm/results/figures/fine_tuning/simple_assets/hw_start.png">    </p:cNvPr>
          <p:cNvPicPr>
            <a:picLocks noChangeAspect="1"/>
          </p:cNvPicPr>
          <p:nvPr/>
        </p:nvPicPr>
        <p:blipFill>
          <a:blip r:embed="rId1"/>
          <a:stretch>
            <a:fillRect/>
          </a:stretch>
        </p:blipFill>
        <p:spPr>
          <a:xfrm>
            <a:off x="1194042" y="2359152"/>
            <a:ext cx="1059204" cy="1399032"/>
          </a:xfrm>
          <a:prstGeom prst="rect">
            <a:avLst/>
          </a:prstGeom>
        </p:spPr>
      </p:pic>
      <p:sp>
        <p:nvSpPr>
          <p:cNvPr id="10" name="2 frame"/>
          <p:cNvSpPr/>
          <p:nvPr/>
        </p:nvSpPr>
        <p:spPr>
          <a:xfrm>
            <a:off x="3401568" y="1152144"/>
            <a:ext cx="2423160" cy="3209544"/>
          </a:xfrm>
          <a:prstGeom prst="rect">
            <a:avLst/>
          </a:prstGeom>
          <a:solidFill>
            <a:schemeClr val="bg1"/>
          </a:solidFill>
          <a:ln w="22225">
            <a:solidFill>
              <a:schemeClr val="tx1"/>
            </a:solidFill>
            <a:prstDash val="solid"/>
          </a:ln>
        </p:spPr>
      </p:sp>
      <p:sp>
        <p:nvSpPr>
          <p:cNvPr id="11" name="2 title"/>
          <p:cNvSpPr txBox="1"/>
          <p:nvPr/>
        </p:nvSpPr>
        <p:spPr>
          <a:xfrm>
            <a:off x="3401568" y="1243584"/>
            <a:ext cx="2423160" cy="384048"/>
          </a:xfrm>
          <a:prstGeom prst="rect">
            <a:avLst/>
          </a:prstGeom>
          <a:noFill/>
          <a:ln/>
        </p:spPr>
        <p:txBody>
          <a:bodyPr wrap="square" lIns="0" tIns="0" rIns="0" bIns="0" rtlCol="0" anchor="ctr"/>
          <a:lstStyle/>
          <a:p>
            <a:pPr algn="ctr" indent="0" marL="0">
              <a:buNone/>
            </a:pPr>
            <a:r>
              <a:rPr lang="en-US" sz="2000" b="1" dirty="0">
                <a:solidFill>
                  <a:schemeClr val="tx2"/>
                </a:solidFill>
              </a:rPr>
              <a:t>2. Repair</a:t>
            </a:r>
            <a:endParaRPr lang="en-US" sz="2000" dirty="0"/>
          </a:p>
        </p:txBody>
      </p:sp>
      <p:sp>
        <p:nvSpPr>
          <p:cNvPr id="12" name="2 card"/>
          <p:cNvSpPr/>
          <p:nvPr/>
        </p:nvSpPr>
        <p:spPr>
          <a:xfrm>
            <a:off x="3538728" y="1591056"/>
            <a:ext cx="2148840" cy="676656"/>
          </a:xfrm>
          <a:prstGeom prst="rect">
            <a:avLst/>
          </a:prstGeom>
          <a:solidFill>
            <a:schemeClr val="accent5"/>
          </a:solidFill>
          <a:ln w="9525">
            <a:solidFill>
              <a:schemeClr val="accent4"/>
            </a:solidFill>
            <a:prstDash val="solid"/>
          </a:ln>
        </p:spPr>
      </p:sp>
      <p:sp>
        <p:nvSpPr>
          <p:cNvPr id="13" name="2 card text"/>
          <p:cNvSpPr txBox="1"/>
          <p:nvPr/>
        </p:nvSpPr>
        <p:spPr>
          <a:xfrm>
            <a:off x="3538728" y="1591056"/>
            <a:ext cx="2148840" cy="676656"/>
          </a:xfrm>
          <a:prstGeom prst="rect">
            <a:avLst/>
          </a:prstGeom>
          <a:noFill/>
          <a:ln/>
        </p:spPr>
        <p:txBody>
          <a:bodyPr wrap="square" lIns="0" tIns="0" rIns="0" bIns="0" rtlCol="0" anchor="ctr"/>
          <a:lstStyle/>
          <a:p>
            <a:pPr algn="ctr" indent="0" marL="0">
              <a:buNone/>
            </a:pPr>
            <a:r>
              <a:rPr lang="en-US" sz="1400" b="1" dirty="0">
                <a:solidFill>
                  <a:schemeClr val="tx2"/>
                </a:solidFill>
              </a:rPr>
              <a:t>Repairer Model</a:t>
            </a:r>
            <a:endParaRPr lang="en-US" sz="1400" dirty="0"/>
          </a:p>
          <a:p>
            <a:pPr algn="ctr" indent="0" marL="0">
              <a:buNone/>
            </a:pPr>
            <a:r>
              <a:rPr lang="en-US" sz="1300" dirty="0">
                <a:solidFill>
                  <a:schemeClr val="accent3"/>
                </a:solidFill>
              </a:rPr>
              <a:t>sees target + its drawing</a:t>
            </a:r>
            <a:endParaRPr lang="en-US" sz="1400" dirty="0"/>
          </a:p>
          <a:p>
            <a:pPr algn="ctr" indent="0" marL="0">
              <a:buNone/>
            </a:pPr>
            <a:r>
              <a:rPr lang="en-US" sz="1300" dirty="0">
                <a:solidFill>
                  <a:schemeClr val="accent3"/>
                </a:solidFill>
              </a:rPr>
              <a:t>writes 16 fixes</a:t>
            </a:r>
            <a:endParaRPr lang="en-US" sz="1400" dirty="0"/>
          </a:p>
        </p:txBody>
      </p:sp>
      <p:sp>
        <p:nvSpPr>
          <p:cNvPr id="14" name="2 stat frame"/>
          <p:cNvSpPr/>
          <p:nvPr/>
        </p:nvSpPr>
        <p:spPr>
          <a:xfrm>
            <a:off x="3538728" y="3849624"/>
            <a:ext cx="2148840" cy="402336"/>
          </a:xfrm>
          <a:prstGeom prst="rect">
            <a:avLst/>
          </a:prstGeom>
          <a:solidFill>
            <a:schemeClr val="bg1"/>
          </a:solidFill>
          <a:ln w="22225">
            <a:solidFill>
              <a:schemeClr val="tx2"/>
            </a:solidFill>
            <a:prstDash val="solid"/>
          </a:ln>
        </p:spPr>
      </p:sp>
      <p:sp>
        <p:nvSpPr>
          <p:cNvPr id="15" name="2 stat"/>
          <p:cNvSpPr txBox="1"/>
          <p:nvPr/>
        </p:nvSpPr>
        <p:spPr>
          <a:xfrm>
            <a:off x="3538728" y="3849624"/>
            <a:ext cx="2148840" cy="402336"/>
          </a:xfrm>
          <a:prstGeom prst="rect">
            <a:avLst/>
          </a:prstGeom>
          <a:noFill/>
          <a:ln/>
        </p:spPr>
        <p:txBody>
          <a:bodyPr wrap="square" lIns="0" tIns="0" rIns="0" bIns="0" rtlCol="0" anchor="ctr"/>
          <a:lstStyle/>
          <a:p>
            <a:pPr algn="ctr" indent="0" marL="0">
              <a:buNone/>
            </a:pPr>
            <a:r>
              <a:rPr lang="en-US" sz="2000" b="1" dirty="0">
                <a:solidFill>
                  <a:schemeClr val="tx2"/>
                </a:solidFill>
              </a:rPr>
              <a:t>16 Repairs</a:t>
            </a:r>
            <a:endParaRPr lang="en-US" sz="2000" dirty="0"/>
          </a:p>
        </p:txBody>
      </p:sp>
      <p:pic>
        <p:nvPicPr>
          <p:cNvPr id="16" name="2 target drawing" descr="/projects/illinois/eng/ece/wpk/bimrose2/drawing_vlm/results/figures/fine_tuning/simple_assets/hw_target_drawing.png">    </p:cNvPr>
          <p:cNvPicPr>
            <a:picLocks noChangeAspect="1"/>
          </p:cNvPicPr>
          <p:nvPr/>
        </p:nvPicPr>
        <p:blipFill>
          <a:blip r:embed="rId2"/>
          <a:stretch>
            <a:fillRect/>
          </a:stretch>
        </p:blipFill>
        <p:spPr>
          <a:xfrm>
            <a:off x="3581927" y="2359152"/>
            <a:ext cx="942302" cy="1161288"/>
          </a:xfrm>
          <a:prstGeom prst="rect">
            <a:avLst/>
          </a:prstGeom>
        </p:spPr>
      </p:pic>
      <p:pic>
        <p:nvPicPr>
          <p:cNvPr id="17" name="2 candidate drawing" descr="/projects/illinois/eng/ece/wpk/bimrose2/drawing_vlm/results/figures/fine_tuning/simple_assets/hw_candidate_drawing.png">    </p:cNvPr>
          <p:cNvPicPr>
            <a:picLocks noChangeAspect="1"/>
          </p:cNvPicPr>
          <p:nvPr/>
        </p:nvPicPr>
        <p:blipFill>
          <a:blip r:embed="rId3"/>
          <a:stretch>
            <a:fillRect/>
          </a:stretch>
        </p:blipFill>
        <p:spPr>
          <a:xfrm>
            <a:off x="4715154" y="2359152"/>
            <a:ext cx="916127" cy="1161288"/>
          </a:xfrm>
          <a:prstGeom prst="rect">
            <a:avLst/>
          </a:prstGeom>
        </p:spPr>
      </p:pic>
      <p:sp>
        <p:nvSpPr>
          <p:cNvPr id="18" name="2 target label"/>
          <p:cNvSpPr txBox="1"/>
          <p:nvPr/>
        </p:nvSpPr>
        <p:spPr>
          <a:xfrm>
            <a:off x="3538728" y="3538728"/>
            <a:ext cx="1028700" cy="201168"/>
          </a:xfrm>
          <a:prstGeom prst="rect">
            <a:avLst/>
          </a:prstGeom>
          <a:noFill/>
          <a:ln/>
        </p:spPr>
        <p:txBody>
          <a:bodyPr wrap="square" lIns="0" tIns="0" rIns="0" bIns="0" rtlCol="0" anchor="ctr"/>
          <a:lstStyle/>
          <a:p>
            <a:pPr algn="ctr" indent="0" marL="0">
              <a:buNone/>
            </a:pPr>
            <a:r>
              <a:rPr lang="en-US" sz="1100" b="1" dirty="0">
                <a:solidFill>
                  <a:schemeClr val="tx2"/>
                </a:solidFill>
              </a:rPr>
              <a:t>target</a:t>
            </a:r>
            <a:endParaRPr lang="en-US" sz="1100" dirty="0"/>
          </a:p>
        </p:txBody>
      </p:sp>
      <p:sp>
        <p:nvSpPr>
          <p:cNvPr id="19" name="2 candidate label"/>
          <p:cNvSpPr txBox="1"/>
          <p:nvPr/>
        </p:nvSpPr>
        <p:spPr>
          <a:xfrm>
            <a:off x="4658868" y="3538728"/>
            <a:ext cx="1028700" cy="201168"/>
          </a:xfrm>
          <a:prstGeom prst="rect">
            <a:avLst/>
          </a:prstGeom>
          <a:noFill/>
          <a:ln/>
        </p:spPr>
        <p:txBody>
          <a:bodyPr wrap="square" lIns="0" tIns="0" rIns="0" bIns="0" rtlCol="0" anchor="ctr"/>
          <a:lstStyle/>
          <a:p>
            <a:pPr algn="ctr" indent="0" marL="0">
              <a:buNone/>
            </a:pPr>
            <a:r>
              <a:rPr lang="en-US" sz="1100" b="1" dirty="0">
                <a:solidFill>
                  <a:schemeClr val="accent1"/>
                </a:solidFill>
              </a:rPr>
              <a:t>candidate</a:t>
            </a:r>
            <a:endParaRPr lang="en-US" sz="1100" dirty="0"/>
          </a:p>
        </p:txBody>
      </p:sp>
      <p:sp>
        <p:nvSpPr>
          <p:cNvPr id="20" name="3 frame"/>
          <p:cNvSpPr/>
          <p:nvPr/>
        </p:nvSpPr>
        <p:spPr>
          <a:xfrm>
            <a:off x="6300216" y="1152144"/>
            <a:ext cx="2423160" cy="3209544"/>
          </a:xfrm>
          <a:prstGeom prst="rect">
            <a:avLst/>
          </a:prstGeom>
          <a:solidFill>
            <a:schemeClr val="bg1"/>
          </a:solidFill>
          <a:ln w="22225">
            <a:solidFill>
              <a:schemeClr val="tx1"/>
            </a:solidFill>
            <a:prstDash val="solid"/>
          </a:ln>
        </p:spPr>
      </p:sp>
      <p:sp>
        <p:nvSpPr>
          <p:cNvPr id="21" name="3 title"/>
          <p:cNvSpPr txBox="1"/>
          <p:nvPr/>
        </p:nvSpPr>
        <p:spPr>
          <a:xfrm>
            <a:off x="6300216" y="1243584"/>
            <a:ext cx="2423160" cy="384048"/>
          </a:xfrm>
          <a:prstGeom prst="rect">
            <a:avLst/>
          </a:prstGeom>
          <a:noFill/>
          <a:ln/>
        </p:spPr>
        <p:txBody>
          <a:bodyPr wrap="square" lIns="0" tIns="0" rIns="0" bIns="0" rtlCol="0" anchor="ctr"/>
          <a:lstStyle/>
          <a:p>
            <a:pPr algn="ctr" indent="0" marL="0">
              <a:buNone/>
            </a:pPr>
            <a:r>
              <a:rPr lang="en-US" sz="2000" b="1" dirty="0">
                <a:solidFill>
                  <a:schemeClr val="tx2"/>
                </a:solidFill>
              </a:rPr>
              <a:t>3. Score</a:t>
            </a:r>
            <a:endParaRPr lang="en-US" sz="2000" dirty="0"/>
          </a:p>
        </p:txBody>
      </p:sp>
      <p:sp>
        <p:nvSpPr>
          <p:cNvPr id="22" name="3 card"/>
          <p:cNvSpPr/>
          <p:nvPr/>
        </p:nvSpPr>
        <p:spPr>
          <a:xfrm>
            <a:off x="6437376" y="1591056"/>
            <a:ext cx="2148840" cy="676656"/>
          </a:xfrm>
          <a:prstGeom prst="rect">
            <a:avLst/>
          </a:prstGeom>
          <a:solidFill>
            <a:schemeClr val="accent5"/>
          </a:solidFill>
          <a:ln w="9525">
            <a:solidFill>
              <a:schemeClr val="accent4"/>
            </a:solidFill>
            <a:prstDash val="solid"/>
          </a:ln>
        </p:spPr>
      </p:sp>
      <p:sp>
        <p:nvSpPr>
          <p:cNvPr id="23" name="3 card text"/>
          <p:cNvSpPr txBox="1"/>
          <p:nvPr/>
        </p:nvSpPr>
        <p:spPr>
          <a:xfrm>
            <a:off x="6437376" y="1591056"/>
            <a:ext cx="2148840" cy="676656"/>
          </a:xfrm>
          <a:prstGeom prst="rect">
            <a:avLst/>
          </a:prstGeom>
          <a:noFill/>
          <a:ln/>
        </p:spPr>
        <p:txBody>
          <a:bodyPr wrap="square" lIns="0" tIns="0" rIns="0" bIns="0" rtlCol="0" anchor="ctr"/>
          <a:lstStyle/>
          <a:p>
            <a:pPr algn="ctr" indent="0" marL="0">
              <a:buNone/>
            </a:pPr>
            <a:r>
              <a:rPr lang="en-US" sz="1400" b="1" dirty="0">
                <a:solidFill>
                  <a:schemeClr val="tx2"/>
                </a:solidFill>
              </a:rPr>
              <a:t>Render-Compare</a:t>
            </a:r>
            <a:endParaRPr lang="en-US" sz="1400" dirty="0"/>
          </a:p>
          <a:p>
            <a:pPr algn="ctr" indent="0" marL="0">
              <a:buNone/>
            </a:pPr>
            <a:r>
              <a:rPr lang="en-US" sz="1300" dirty="0">
                <a:solidFill>
                  <a:schemeClr val="accent3"/>
                </a:solidFill>
              </a:rPr>
              <a:t>redraw every fix</a:t>
            </a:r>
            <a:endParaRPr lang="en-US" sz="1400" dirty="0"/>
          </a:p>
          <a:p>
            <a:pPr algn="ctr" indent="0" marL="0">
              <a:buNone/>
            </a:pPr>
            <a:r>
              <a:rPr lang="en-US" sz="1300" dirty="0">
                <a:solidFill>
                  <a:schemeClr val="accent3"/>
                </a:solidFill>
              </a:rPr>
              <a:t>match the input drawing</a:t>
            </a:r>
            <a:endParaRPr lang="en-US" sz="1400" dirty="0"/>
          </a:p>
        </p:txBody>
      </p:sp>
      <p:sp>
        <p:nvSpPr>
          <p:cNvPr id="24" name="3 stat frame"/>
          <p:cNvSpPr/>
          <p:nvPr/>
        </p:nvSpPr>
        <p:spPr>
          <a:xfrm>
            <a:off x="6437376" y="3849624"/>
            <a:ext cx="2148840" cy="402336"/>
          </a:xfrm>
          <a:prstGeom prst="rect">
            <a:avLst/>
          </a:prstGeom>
          <a:solidFill>
            <a:schemeClr val="bg1"/>
          </a:solidFill>
          <a:ln w="22225">
            <a:solidFill>
              <a:schemeClr val="tx2"/>
            </a:solidFill>
            <a:prstDash val="solid"/>
          </a:ln>
        </p:spPr>
      </p:sp>
      <p:sp>
        <p:nvSpPr>
          <p:cNvPr id="25" name="3 stat"/>
          <p:cNvSpPr txBox="1"/>
          <p:nvPr/>
        </p:nvSpPr>
        <p:spPr>
          <a:xfrm>
            <a:off x="6437376" y="3849624"/>
            <a:ext cx="2148840" cy="402336"/>
          </a:xfrm>
          <a:prstGeom prst="rect">
            <a:avLst/>
          </a:prstGeom>
          <a:noFill/>
          <a:ln/>
        </p:spPr>
        <p:txBody>
          <a:bodyPr wrap="square" lIns="0" tIns="0" rIns="0" bIns="0" rtlCol="0" anchor="ctr"/>
          <a:lstStyle/>
          <a:p>
            <a:pPr algn="ctr" indent="0" marL="0">
              <a:buNone/>
            </a:pPr>
            <a:r>
              <a:rPr lang="en-US" sz="2000" b="1" dirty="0">
                <a:solidFill>
                  <a:schemeClr val="tx2"/>
                </a:solidFill>
              </a:rPr>
              <a:t>No Labels</a:t>
            </a:r>
            <a:endParaRPr lang="en-US" sz="2000" dirty="0"/>
          </a:p>
        </p:txBody>
      </p:sp>
      <p:pic>
        <p:nvPicPr>
          <p:cNvPr id="26" name="3 overlay" descr="/projects/illinois/eng/ece/wpk/bimrose2/drawing_vlm/results/figures/fine_tuning/simple_assets/hw_overlay.png">    </p:cNvPr>
          <p:cNvPicPr>
            <a:picLocks noChangeAspect="1"/>
          </p:cNvPicPr>
          <p:nvPr/>
        </p:nvPicPr>
        <p:blipFill>
          <a:blip r:embed="rId4"/>
          <a:stretch>
            <a:fillRect/>
          </a:stretch>
        </p:blipFill>
        <p:spPr>
          <a:xfrm>
            <a:off x="6922008" y="2359152"/>
            <a:ext cx="1179576" cy="1179576"/>
          </a:xfrm>
          <a:prstGeom prst="rect">
            <a:avLst/>
          </a:prstGeom>
        </p:spPr>
      </p:pic>
      <p:sp>
        <p:nvSpPr>
          <p:cNvPr id="27" name="3 overlay legend"/>
          <p:cNvSpPr txBox="1"/>
          <p:nvPr/>
        </p:nvSpPr>
        <p:spPr>
          <a:xfrm>
            <a:off x="6437376" y="3557016"/>
            <a:ext cx="2148840" cy="201168"/>
          </a:xfrm>
          <a:prstGeom prst="rect">
            <a:avLst/>
          </a:prstGeom>
          <a:noFill/>
          <a:ln/>
        </p:spPr>
        <p:txBody>
          <a:bodyPr wrap="square" lIns="0" tIns="0" rIns="0" bIns="0" rtlCol="0" anchor="ctr"/>
          <a:lstStyle/>
          <a:p>
            <a:pPr algn="ctr" indent="0" marL="0">
              <a:buNone/>
            </a:pPr>
            <a:r>
              <a:rPr lang="en-US" sz="1100" b="1" dirty="0">
                <a:solidFill>
                  <a:schemeClr val="tx2"/>
                </a:solidFill>
              </a:rPr>
              <a:t>target</a:t>
            </a:r>
            <a:pPr algn="ctr" indent="0" marL="0">
              <a:buNone/>
            </a:pPr>
            <a:r>
              <a:rPr lang="en-US" sz="1100" dirty="0">
                <a:solidFill>
                  <a:schemeClr val="accent3"/>
                </a:solidFill>
              </a:rPr>
              <a:t>  vs  </a:t>
            </a:r>
            <a:pPr algn="ctr" indent="0" marL="0">
              <a:buNone/>
            </a:pPr>
            <a:r>
              <a:rPr lang="en-US" sz="1100" b="1" dirty="0">
                <a:solidFill>
                  <a:schemeClr val="accent1"/>
                </a:solidFill>
              </a:rPr>
              <a:t>candidate</a:t>
            </a:r>
            <a:endParaRPr lang="en-US" sz="1100" dirty="0"/>
          </a:p>
        </p:txBody>
      </p:sp>
      <p:sp>
        <p:nvSpPr>
          <p:cNvPr id="28" name="4 frame"/>
          <p:cNvSpPr/>
          <p:nvPr/>
        </p:nvSpPr>
        <p:spPr>
          <a:xfrm>
            <a:off x="9198864" y="1152144"/>
            <a:ext cx="2423160" cy="3209544"/>
          </a:xfrm>
          <a:prstGeom prst="rect">
            <a:avLst/>
          </a:prstGeom>
          <a:solidFill>
            <a:schemeClr val="bg1"/>
          </a:solidFill>
          <a:ln w="22225">
            <a:solidFill>
              <a:schemeClr val="tx1"/>
            </a:solidFill>
            <a:prstDash val="solid"/>
          </a:ln>
        </p:spPr>
      </p:sp>
      <p:sp>
        <p:nvSpPr>
          <p:cNvPr id="29" name="4 title"/>
          <p:cNvSpPr txBox="1"/>
          <p:nvPr/>
        </p:nvSpPr>
        <p:spPr>
          <a:xfrm>
            <a:off x="9198864" y="1243584"/>
            <a:ext cx="2423160" cy="384048"/>
          </a:xfrm>
          <a:prstGeom prst="rect">
            <a:avLst/>
          </a:prstGeom>
          <a:noFill/>
          <a:ln/>
        </p:spPr>
        <p:txBody>
          <a:bodyPr wrap="square" lIns="0" tIns="0" rIns="0" bIns="0" rtlCol="0" anchor="ctr"/>
          <a:lstStyle/>
          <a:p>
            <a:pPr algn="ctr" indent="0" marL="0">
              <a:buNone/>
            </a:pPr>
            <a:r>
              <a:rPr lang="en-US" sz="2000" b="1" dirty="0">
                <a:solidFill>
                  <a:schemeClr val="tx2"/>
                </a:solidFill>
              </a:rPr>
              <a:t>4. Accept</a:t>
            </a:r>
            <a:endParaRPr lang="en-US" sz="2000" dirty="0"/>
          </a:p>
        </p:txBody>
      </p:sp>
      <p:sp>
        <p:nvSpPr>
          <p:cNvPr id="30" name="4 card"/>
          <p:cNvSpPr/>
          <p:nvPr/>
        </p:nvSpPr>
        <p:spPr>
          <a:xfrm>
            <a:off x="9336024" y="1591056"/>
            <a:ext cx="2148840" cy="676656"/>
          </a:xfrm>
          <a:prstGeom prst="rect">
            <a:avLst/>
          </a:prstGeom>
          <a:solidFill>
            <a:schemeClr val="accent5"/>
          </a:solidFill>
          <a:ln w="9525">
            <a:solidFill>
              <a:schemeClr val="accent4"/>
            </a:solidFill>
            <a:prstDash val="solid"/>
          </a:ln>
        </p:spPr>
      </p:sp>
      <p:sp>
        <p:nvSpPr>
          <p:cNvPr id="31" name="4 card text"/>
          <p:cNvSpPr txBox="1"/>
          <p:nvPr/>
        </p:nvSpPr>
        <p:spPr>
          <a:xfrm>
            <a:off x="9336024" y="1591056"/>
            <a:ext cx="2148840" cy="676656"/>
          </a:xfrm>
          <a:prstGeom prst="rect">
            <a:avLst/>
          </a:prstGeom>
          <a:noFill/>
          <a:ln/>
        </p:spPr>
        <p:txBody>
          <a:bodyPr wrap="square" lIns="0" tIns="0" rIns="0" bIns="0" rtlCol="0" anchor="ctr"/>
          <a:lstStyle/>
          <a:p>
            <a:pPr algn="ctr" indent="0" marL="0">
              <a:buNone/>
            </a:pPr>
            <a:r>
              <a:rPr lang="en-US" sz="1400" b="1" dirty="0">
                <a:solidFill>
                  <a:schemeClr val="tx2"/>
                </a:solidFill>
              </a:rPr>
              <a:t>Keep If Better</a:t>
            </a:r>
            <a:endParaRPr lang="en-US" sz="1400" dirty="0"/>
          </a:p>
          <a:p>
            <a:pPr algn="ctr" indent="0" marL="0">
              <a:buNone/>
            </a:pPr>
            <a:r>
              <a:rPr lang="en-US" sz="1300" dirty="0">
                <a:solidFill>
                  <a:schemeClr val="accent3"/>
                </a:solidFill>
              </a:rPr>
              <a:t>repeat up to 6 rounds</a:t>
            </a:r>
            <a:endParaRPr lang="en-US" sz="1400" dirty="0"/>
          </a:p>
          <a:p>
            <a:pPr algn="ctr" indent="0" marL="0">
              <a:buNone/>
            </a:pPr>
            <a:r>
              <a:rPr lang="en-US" sz="1300" dirty="0">
                <a:solidFill>
                  <a:schemeClr val="accent3"/>
                </a:solidFill>
              </a:rPr>
              <a:t>best of 3 chains</a:t>
            </a:r>
            <a:endParaRPr lang="en-US" sz="1400" dirty="0"/>
          </a:p>
        </p:txBody>
      </p:sp>
      <p:sp>
        <p:nvSpPr>
          <p:cNvPr id="32" name="4 stat frame"/>
          <p:cNvSpPr/>
          <p:nvPr/>
        </p:nvSpPr>
        <p:spPr>
          <a:xfrm>
            <a:off x="9336024" y="3849624"/>
            <a:ext cx="2148840" cy="402336"/>
          </a:xfrm>
          <a:prstGeom prst="rect">
            <a:avLst/>
          </a:prstGeom>
          <a:solidFill>
            <a:schemeClr val="bg1"/>
          </a:solidFill>
          <a:ln w="22225">
            <a:solidFill>
              <a:schemeClr val="tx2"/>
            </a:solidFill>
            <a:prstDash val="solid"/>
          </a:ln>
        </p:spPr>
      </p:sp>
      <p:sp>
        <p:nvSpPr>
          <p:cNvPr id="33" name="4 stat"/>
          <p:cNvSpPr txBox="1"/>
          <p:nvPr/>
        </p:nvSpPr>
        <p:spPr>
          <a:xfrm>
            <a:off x="9336024" y="3849624"/>
            <a:ext cx="2148840" cy="402336"/>
          </a:xfrm>
          <a:prstGeom prst="rect">
            <a:avLst/>
          </a:prstGeom>
          <a:noFill/>
          <a:ln/>
        </p:spPr>
        <p:txBody>
          <a:bodyPr wrap="square" lIns="0" tIns="0" rIns="0" bIns="0" rtlCol="0" anchor="ctr"/>
          <a:lstStyle/>
          <a:p>
            <a:pPr algn="ctr" indent="0" marL="0">
              <a:buNone/>
            </a:pPr>
            <a:r>
              <a:rPr lang="en-US" sz="2000" b="1" dirty="0">
                <a:solidFill>
                  <a:schemeClr val="tx2"/>
                </a:solidFill>
              </a:rPr>
              <a:t>IoU 0.93</a:t>
            </a:r>
            <a:endParaRPr lang="en-US" sz="2000" dirty="0"/>
          </a:p>
        </p:txBody>
      </p:sp>
      <p:pic>
        <p:nvPicPr>
          <p:cNvPr id="34" name="4 final render" descr="/projects/illinois/eng/ece/wpk/bimrose2/drawing_vlm/results/figures/fine_tuning/simple_assets/hw_final.png">    </p:cNvPr>
          <p:cNvPicPr>
            <a:picLocks noChangeAspect="1"/>
          </p:cNvPicPr>
          <p:nvPr/>
        </p:nvPicPr>
        <p:blipFill>
          <a:blip r:embed="rId5"/>
          <a:stretch>
            <a:fillRect/>
          </a:stretch>
        </p:blipFill>
        <p:spPr>
          <a:xfrm>
            <a:off x="9878635" y="2359152"/>
            <a:ext cx="1063617" cy="1399032"/>
          </a:xfrm>
          <a:prstGeom prst="rect">
            <a:avLst/>
          </a:prstGeom>
        </p:spPr>
      </p:pic>
      <p:sp>
        <p:nvSpPr>
          <p:cNvPr id="35" name="stage arrow 1"/>
          <p:cNvSpPr/>
          <p:nvPr/>
        </p:nvSpPr>
        <p:spPr>
          <a:xfrm>
            <a:off x="2935224" y="3118104"/>
            <a:ext cx="466344" cy="0"/>
          </a:xfrm>
          <a:prstGeom prst="line">
            <a:avLst/>
          </a:prstGeom>
          <a:noFill/>
          <a:ln w="38100">
            <a:solidFill>
              <a:schemeClr val="tx1"/>
            </a:solidFill>
            <a:prstDash val="solid"/>
            <a:tailEnd type="triangle"/>
          </a:ln>
        </p:spPr>
      </p:sp>
      <p:sp>
        <p:nvSpPr>
          <p:cNvPr id="36" name="stage arrow 2"/>
          <p:cNvSpPr/>
          <p:nvPr/>
        </p:nvSpPr>
        <p:spPr>
          <a:xfrm>
            <a:off x="5824728" y="3118104"/>
            <a:ext cx="475488" cy="0"/>
          </a:xfrm>
          <a:prstGeom prst="line">
            <a:avLst/>
          </a:prstGeom>
          <a:noFill/>
          <a:ln w="38100">
            <a:solidFill>
              <a:schemeClr val="tx1"/>
            </a:solidFill>
            <a:prstDash val="solid"/>
            <a:tailEnd type="triangle"/>
          </a:ln>
        </p:spPr>
      </p:sp>
      <p:sp>
        <p:nvSpPr>
          <p:cNvPr id="37" name="stage arrow 3"/>
          <p:cNvSpPr/>
          <p:nvPr/>
        </p:nvSpPr>
        <p:spPr>
          <a:xfrm>
            <a:off x="8723376" y="3118104"/>
            <a:ext cx="475488" cy="0"/>
          </a:xfrm>
          <a:prstGeom prst="line">
            <a:avLst/>
          </a:prstGeom>
          <a:noFill/>
          <a:ln w="38100">
            <a:solidFill>
              <a:schemeClr val="tx1"/>
            </a:solidFill>
            <a:prstDash val="solid"/>
            <a:tailEnd type="triangle"/>
          </a:ln>
        </p:spPr>
      </p:sp>
      <p:sp>
        <p:nvSpPr>
          <p:cNvPr id="38" name="footnote"/>
          <p:cNvSpPr txBox="1"/>
          <p:nvPr/>
        </p:nvSpPr>
        <p:spPr>
          <a:xfrm>
            <a:off x="512064" y="4498848"/>
            <a:ext cx="11109960" cy="457200"/>
          </a:xfrm>
          <a:prstGeom prst="rect">
            <a:avLst/>
          </a:prstGeom>
          <a:noFill/>
          <a:ln/>
        </p:spPr>
        <p:txBody>
          <a:bodyPr wrap="square" lIns="0" tIns="0" rIns="0" bIns="0" rtlCol="0" anchor="t"/>
          <a:lstStyle/>
          <a:p>
            <a:pPr indent="0" marL="0">
              <a:buNone/>
            </a:pPr>
            <a:r>
              <a:rPr lang="en-US" sz="1200" dirty="0">
                <a:solidFill>
                  <a:schemeClr val="accent3"/>
                </a:solidFill>
              </a:rPr>
              <a:t>Example: handwheel (real part). Over 143 real parts, the loop raises mean IoU from 0.537 to 0.695. Ground truth is never used; IoU is shown for illustration.</a:t>
            </a:r>
            <a:endParaRPr lang="en-US" sz="1200" dirty="0"/>
          </a:p>
        </p:txBody>
      </p:sp>
    </p:spTree>
  </p:cSld>
  <p:clrMapOvr>
    <a:masterClrMapping/>
  </p:clrMapOvr>
</p:sld>
</file>

<file path=ppt/theme/theme1.xml><?xml version="1.0" encoding="utf-8"?>
<a:theme xmlns:a="http://schemas.openxmlformats.org/drawingml/2006/main" name="Drawing to CAD">
  <a:themeElements>
    <a:clrScheme name="Drawing to CAD">
      <a:dk1>
        <a:srgbClr val="000000"/>
      </a:dk1>
      <a:lt1>
        <a:srgbClr val="FFFFFF"/>
      </a:lt1>
      <a:dk2>
        <a:srgbClr val="13294B"/>
      </a:dk2>
      <a:lt2>
        <a:srgbClr val="EEF2F8"/>
      </a:lt2>
      <a:accent1>
        <a:srgbClr val="E84A27"/>
      </a:accent1>
      <a:accent2>
        <a:srgbClr val="8A8F99"/>
      </a:accent2>
      <a:accent3>
        <a:srgbClr val="5A5F69"/>
      </a:accent3>
      <a:accent4>
        <a:srgbClr val="D3DEE0"/>
      </a:accent4>
      <a:accent5>
        <a:srgbClr val="EEF4F0"/>
      </a:accent5>
      <a:accent6>
        <a:srgbClr val="D6DEEA"/>
      </a:accent6>
      <a:hlink>
        <a:srgbClr val="2F6FD6"/>
      </a:hlink>
      <a:folHlink>
        <a:srgbClr val="5A5F69"/>
      </a:folHlink>
    </a:clrScheme>
    <a:fontScheme name="Drawing to CA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 tuning and repair loop</dc:title>
  <dc:subject>PptxGenJS Presentation</dc:subject>
  <dc:creator>PptxGenJS</dc:creator>
  <cp:lastModifiedBy>PptxGenJS</cp:lastModifiedBy>
  <cp:revision>1</cp:revision>
  <dcterms:created xsi:type="dcterms:W3CDTF">2026-10-13T20:27:18Z</dcterms:created>
  <dcterms:modified xsi:type="dcterms:W3CDTF">2026-10-13T20:27:18Z</dcterms:modified>
</cp:coreProperties>
</file>