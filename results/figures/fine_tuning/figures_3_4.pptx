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SFT (e55): Qwen3.8-27B full fine-tune, FSDP2 FULL_SHARD, bf16 compute + fp32 master, vision tower frozen, seq 5,120, effective batch 64, lr 6e-6, 4k steps. Mix 60/20/20: RFT rows (own generations kept at exact IoU &gt;= 0.8 with think traces, STaR rounds), certified Kimi-K3 reasoning traces (53k, +-5% reverse-reconstruction gate), plain filtered GT. Base model without fine-tuning: 6% of programs run, IoU 0.082 on bench B.
GRPO: LoRA r64 on e55, G = 8 rollouts via vLLM, T = 1.0 with scaled logits, top_p 1, reward = exact IoU (0 on failure), batch-std advantages, 4 minibatches with PPO clip-higher 0.2/0.28, KL 0, entropy floor, rollback guard; lr 2e-5 from e55, 1e-5 from trained adapters. Plain GRPO (ent_t10 s120, best of 3 seeds): 0.640. Self-improvement (expert iteration) x2 -&gt; rft2_rl s60: 0.665, +0.024 [+0.008, +0.041]; best of 8 0.732.
Repairer rp3: full fine-tune continued from e55 (300 steps, lr 2e-6, batch 64 = 4 ranks x accum 16, seq 7,168), rp2 repair tiers + real repair rows from CADBench corpora (DeepSeek search). Stage 3 = rft2_rl s60 K=16 -&gt; verifier + render-compare pick -&gt; 3 rp3 chains (16 x 6, gate margin 0.1) -&gt; 0.721; same repair on e55: 0.664.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round: run the current program, draw it with the same drawing compiler (draftwright 0.4.23) that made the input sheets; the repairer rp3 (full fine-tune of e55) sees the target drawing, the candidate's drawing and its code and samples 16 corrected programs (T 0.7, &lt;= 6,000 tokens). Each is executed and drawn; the render-compare score (v3: per-view comparison with one scale per sheet pair, geometry separated from annotations by colour) measures the match to the target. Pearson r 0.67 with true IoU on the real bench. The best repair is adopted only if its score beats the current program's by 0.1 (fixed a priori); up to 6 rounds. Multi-start: 3 chains from the top-3 distinct starting candidates; final answer = highest render-compare score. Ground truth is never used; the IoU values on the example are for illustration. Real bench (143 parts): e55 medoid pick 0.537 -&gt; one chain 0.667 -&gt; 3 chains 0.695 (e55's own best of 8: 0.591). Synthetic pool: 0.925 -&gt; 0.929. Handwheel = CADBench Fusion 360 part F_73525; this chain started from the generator's third-ranked candidate. Limits: the colour-based score needs draftwright-style sheets (all-black SolidWorks drawings score ~0), and on ABC parts the score tracks IoU less well (r 0.42 vs 0.61 on Fusion 360).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Figure 3: Fine Tuning</a:t>
            </a:r>
            <a:endParaRPr lang="en-US" sz="3600" dirty="0"/>
          </a:p>
        </p:txBody>
      </p:sp>
      <p:sp>
        <p:nvSpPr>
          <p:cNvPr id="3" name="1. Supervised FT frame"/>
          <p:cNvSpPr/>
          <p:nvPr/>
        </p:nvSpPr>
        <p:spPr>
          <a:xfrm>
            <a:off x="540868" y="1143000"/>
            <a:ext cx="3429000" cy="4636008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4" name="1. Supervised FT title"/>
          <p:cNvSpPr txBox="1"/>
          <p:nvPr/>
        </p:nvSpPr>
        <p:spPr>
          <a:xfrm>
            <a:off x="540868" y="12344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 Supervised FT</a:t>
            </a:r>
            <a:endParaRPr lang="en-US" sz="2000" dirty="0"/>
          </a:p>
        </p:txBody>
      </p:sp>
      <p:sp>
        <p:nvSpPr>
          <p:cNvPr id="5" name="1. Supervised FT card 1"/>
          <p:cNvSpPr/>
          <p:nvPr/>
        </p:nvSpPr>
        <p:spPr>
          <a:xfrm>
            <a:off x="678028" y="1709928"/>
            <a:ext cx="3154680" cy="74980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1. Supervised F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612" y="1947672"/>
            <a:ext cx="274320" cy="274320"/>
          </a:xfrm>
          <a:prstGeom prst="rect">
            <a:avLst/>
          </a:prstGeom>
        </p:spPr>
      </p:pic>
      <p:sp>
        <p:nvSpPr>
          <p:cNvPr id="7" name="1. Supervised FT card 1 text"/>
          <p:cNvSpPr txBox="1"/>
          <p:nvPr/>
        </p:nvSpPr>
        <p:spPr>
          <a:xfrm>
            <a:off x="1153516" y="1709928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Data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~500k drawing → build123d pairs (Zero-to-CAD), each program executed and IoU-checked</a:t>
            </a:r>
            <a:endParaRPr lang="en-US" sz="1200" dirty="0"/>
          </a:p>
        </p:txBody>
      </p:sp>
      <p:sp>
        <p:nvSpPr>
          <p:cNvPr id="8" name="1. Supervised FT arrow 1"/>
          <p:cNvSpPr/>
          <p:nvPr/>
        </p:nvSpPr>
        <p:spPr>
          <a:xfrm>
            <a:off x="2255368" y="2459736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1. Supervised FT card 2"/>
          <p:cNvSpPr/>
          <p:nvPr/>
        </p:nvSpPr>
        <p:spPr>
          <a:xfrm>
            <a:off x="678028" y="2596896"/>
            <a:ext cx="3154680" cy="74980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0" name="1. Supervised F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12" y="2834640"/>
            <a:ext cx="274320" cy="274320"/>
          </a:xfrm>
          <a:prstGeom prst="rect">
            <a:avLst/>
          </a:prstGeom>
        </p:spPr>
      </p:pic>
      <p:sp>
        <p:nvSpPr>
          <p:cNvPr id="11" name="1. Supervised FT card 2 text"/>
          <p:cNvSpPr txBox="1"/>
          <p:nvPr/>
        </p:nvSpPr>
        <p:spPr>
          <a:xfrm>
            <a:off x="1153516" y="2596896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Mix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60% own programs with IoU ≥ 0.8 · 20% Kimi-K3 reasoning traces (53k) · 20% ground-truth code</a:t>
            </a:r>
            <a:endParaRPr lang="en-US" sz="1200" dirty="0"/>
          </a:p>
        </p:txBody>
      </p:sp>
      <p:sp>
        <p:nvSpPr>
          <p:cNvPr id="12" name="1. Supervised FT arrow 2"/>
          <p:cNvSpPr/>
          <p:nvPr/>
        </p:nvSpPr>
        <p:spPr>
          <a:xfrm>
            <a:off x="2255368" y="3346704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1. Supervised FT card 3"/>
          <p:cNvSpPr/>
          <p:nvPr/>
        </p:nvSpPr>
        <p:spPr>
          <a:xfrm>
            <a:off x="678028" y="3483864"/>
            <a:ext cx="3154680" cy="74980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4" name="1. Supervised F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12" y="3721608"/>
            <a:ext cx="274320" cy="274320"/>
          </a:xfrm>
          <a:prstGeom prst="rect">
            <a:avLst/>
          </a:prstGeom>
        </p:spPr>
      </p:pic>
      <p:sp>
        <p:nvSpPr>
          <p:cNvPr id="15" name="1. Supervised FT card 3 text"/>
          <p:cNvSpPr txBox="1"/>
          <p:nvPr/>
        </p:nvSpPr>
        <p:spPr>
          <a:xfrm>
            <a:off x="1153516" y="3483864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Self-Training (RFT)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each new model regenerates the 60% tier from its own correct samples</a:t>
            </a:r>
            <a:endParaRPr lang="en-US" sz="1200" dirty="0"/>
          </a:p>
        </p:txBody>
      </p:sp>
      <p:sp>
        <p:nvSpPr>
          <p:cNvPr id="16" name="1. Supervised FT arrow 3"/>
          <p:cNvSpPr/>
          <p:nvPr/>
        </p:nvSpPr>
        <p:spPr>
          <a:xfrm>
            <a:off x="2255368" y="4233672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1. Supervised FT card 4"/>
          <p:cNvSpPr/>
          <p:nvPr/>
        </p:nvSpPr>
        <p:spPr>
          <a:xfrm>
            <a:off x="678028" y="4370832"/>
            <a:ext cx="3154680" cy="74980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8" name="1. Supervised FT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12" y="4608576"/>
            <a:ext cx="274320" cy="274320"/>
          </a:xfrm>
          <a:prstGeom prst="rect">
            <a:avLst/>
          </a:prstGeom>
        </p:spPr>
      </p:pic>
      <p:sp>
        <p:nvSpPr>
          <p:cNvPr id="19" name="1. Supervised FT card 4 text"/>
          <p:cNvSpPr txBox="1"/>
          <p:nvPr/>
        </p:nvSpPr>
        <p:spPr>
          <a:xfrm>
            <a:off x="1153516" y="4370832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Qwen3.8-27B, Full FT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FSDP2 bf16, vision tower frozen · lr 6e-6, batch 64, seq 5,120, 4k steps</a:t>
            </a:r>
            <a:endParaRPr lang="en-US" sz="1200" dirty="0"/>
          </a:p>
        </p:txBody>
      </p:sp>
      <p:sp>
        <p:nvSpPr>
          <p:cNvPr id="20" name="1. Supervised FT stat frame"/>
          <p:cNvSpPr/>
          <p:nvPr/>
        </p:nvSpPr>
        <p:spPr>
          <a:xfrm>
            <a:off x="678028" y="5239512"/>
            <a:ext cx="3154680" cy="40233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21" name="1. Supervised FT stat"/>
          <p:cNvSpPr txBox="1"/>
          <p:nvPr/>
        </p:nvSpPr>
        <p:spPr>
          <a:xfrm>
            <a:off x="678028" y="523951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IoU 0.509</a:t>
            </a:r>
            <a:endParaRPr lang="en-US" sz="2000" dirty="0"/>
          </a:p>
        </p:txBody>
      </p:sp>
      <p:sp>
        <p:nvSpPr>
          <p:cNvPr id="22" name="stage arrow 1"/>
          <p:cNvSpPr/>
          <p:nvPr/>
        </p:nvSpPr>
        <p:spPr>
          <a:xfrm>
            <a:off x="3969868" y="3461004"/>
            <a:ext cx="41148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2. GRPO frame"/>
          <p:cNvSpPr/>
          <p:nvPr/>
        </p:nvSpPr>
        <p:spPr>
          <a:xfrm>
            <a:off x="4381348" y="1143000"/>
            <a:ext cx="3429000" cy="4636008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4" name="2. GRPO title"/>
          <p:cNvSpPr txBox="1"/>
          <p:nvPr/>
        </p:nvSpPr>
        <p:spPr>
          <a:xfrm>
            <a:off x="4381348" y="12344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 GRPO</a:t>
            </a:r>
            <a:endParaRPr lang="en-US" sz="2000" dirty="0"/>
          </a:p>
        </p:txBody>
      </p:sp>
      <p:sp>
        <p:nvSpPr>
          <p:cNvPr id="25" name="2. GRPO card 1"/>
          <p:cNvSpPr/>
          <p:nvPr/>
        </p:nvSpPr>
        <p:spPr>
          <a:xfrm>
            <a:off x="4518508" y="1709928"/>
            <a:ext cx="3154680" cy="74980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6" name="2. GRPO icon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092" y="1947672"/>
            <a:ext cx="274320" cy="274320"/>
          </a:xfrm>
          <a:prstGeom prst="rect">
            <a:avLst/>
          </a:prstGeom>
        </p:spPr>
      </p:pic>
      <p:sp>
        <p:nvSpPr>
          <p:cNvPr id="27" name="2. GRPO card 1 text"/>
          <p:cNvSpPr txBox="1"/>
          <p:nvPr/>
        </p:nvSpPr>
        <p:spPr>
          <a:xfrm>
            <a:off x="4993996" y="1709928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Rollouts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G = 8 programs per drawing, T = 1.0 (vLLM) · LoRA r = 64 on all linear layers</a:t>
            </a:r>
            <a:endParaRPr lang="en-US" sz="1200" dirty="0"/>
          </a:p>
        </p:txBody>
      </p:sp>
      <p:sp>
        <p:nvSpPr>
          <p:cNvPr id="28" name="2. GRPO arrow 1"/>
          <p:cNvSpPr/>
          <p:nvPr/>
        </p:nvSpPr>
        <p:spPr>
          <a:xfrm>
            <a:off x="6095848" y="2459736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9" name="2. GRPO card 2"/>
          <p:cNvSpPr/>
          <p:nvPr/>
        </p:nvSpPr>
        <p:spPr>
          <a:xfrm>
            <a:off x="4518508" y="2596896"/>
            <a:ext cx="3154680" cy="74980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30" name="2. GRPO icon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092" y="2834640"/>
            <a:ext cx="274320" cy="274320"/>
          </a:xfrm>
          <a:prstGeom prst="rect">
            <a:avLst/>
          </a:prstGeom>
        </p:spPr>
      </p:pic>
      <p:sp>
        <p:nvSpPr>
          <p:cNvPr id="31" name="2. GRPO card 2 text"/>
          <p:cNvSpPr txBox="1"/>
          <p:nvPr/>
        </p:nvSpPr>
        <p:spPr>
          <a:xfrm>
            <a:off x="4993996" y="2596896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Reward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r = IoU(exec(code), ground truth); r = 0 if the program fails</a:t>
            </a:r>
            <a:endParaRPr lang="en-US" sz="1200" dirty="0"/>
          </a:p>
        </p:txBody>
      </p:sp>
      <p:sp>
        <p:nvSpPr>
          <p:cNvPr id="32" name="2. GRPO arrow 2"/>
          <p:cNvSpPr/>
          <p:nvPr/>
        </p:nvSpPr>
        <p:spPr>
          <a:xfrm>
            <a:off x="6095848" y="3346704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3" name="2. GRPO card 3"/>
          <p:cNvSpPr/>
          <p:nvPr/>
        </p:nvSpPr>
        <p:spPr>
          <a:xfrm>
            <a:off x="4518508" y="3483864"/>
            <a:ext cx="3154680" cy="74980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34" name="2. GRPO icon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092" y="3721608"/>
            <a:ext cx="274320" cy="274320"/>
          </a:xfrm>
          <a:prstGeom prst="rect">
            <a:avLst/>
          </a:prstGeom>
        </p:spPr>
      </p:pic>
      <p:sp>
        <p:nvSpPr>
          <p:cNvPr id="35" name="2. GRPO card 3 text"/>
          <p:cNvSpPr txBox="1"/>
          <p:nvPr/>
        </p:nvSpPr>
        <p:spPr>
          <a:xfrm>
            <a:off x="4993996" y="3483864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Objective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A = r − group mean, batch-std scaled · token-level PPO clip 0.2/0.28 · KL 0 · lr 1–2e-5</a:t>
            </a:r>
            <a:endParaRPr lang="en-US" sz="1200" dirty="0"/>
          </a:p>
        </p:txBody>
      </p:sp>
      <p:sp>
        <p:nvSpPr>
          <p:cNvPr id="36" name="2. GRPO arrow 3"/>
          <p:cNvSpPr/>
          <p:nvPr/>
        </p:nvSpPr>
        <p:spPr>
          <a:xfrm>
            <a:off x="6095848" y="4233672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7" name="2. GRPO card 4"/>
          <p:cNvSpPr/>
          <p:nvPr/>
        </p:nvSpPr>
        <p:spPr>
          <a:xfrm>
            <a:off x="4518508" y="4370832"/>
            <a:ext cx="3154680" cy="74980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38" name="2. GRPO icon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9092" y="4608576"/>
            <a:ext cx="274320" cy="274320"/>
          </a:xfrm>
          <a:prstGeom prst="rect">
            <a:avLst/>
          </a:prstGeom>
        </p:spPr>
      </p:pic>
      <p:sp>
        <p:nvSpPr>
          <p:cNvPr id="39" name="2. GRPO card 4 text"/>
          <p:cNvSpPr txBox="1"/>
          <p:nvPr/>
        </p:nvSpPr>
        <p:spPr>
          <a:xfrm>
            <a:off x="4993996" y="4370832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Self-Improvement ×2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16 samples + guided repair on 8,121 hard parts → 5,502 programs (IoU ≥ 0.75) → LoRA SFT → 60 GRPO steps</a:t>
            </a:r>
            <a:endParaRPr lang="en-US" sz="1200" dirty="0"/>
          </a:p>
        </p:txBody>
      </p:sp>
      <p:sp>
        <p:nvSpPr>
          <p:cNvPr id="40" name="2. GRPO stat frame"/>
          <p:cNvSpPr/>
          <p:nvPr/>
        </p:nvSpPr>
        <p:spPr>
          <a:xfrm>
            <a:off x="4518508" y="5239512"/>
            <a:ext cx="3154680" cy="40233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41" name="2. GRPO stat"/>
          <p:cNvSpPr txBox="1"/>
          <p:nvPr/>
        </p:nvSpPr>
        <p:spPr>
          <a:xfrm>
            <a:off x="4518508" y="523951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IoU 0.665</a:t>
            </a:r>
            <a:endParaRPr lang="en-US" sz="2000" dirty="0"/>
          </a:p>
        </p:txBody>
      </p:sp>
      <p:sp>
        <p:nvSpPr>
          <p:cNvPr id="42" name="stage arrow 2"/>
          <p:cNvSpPr/>
          <p:nvPr/>
        </p:nvSpPr>
        <p:spPr>
          <a:xfrm>
            <a:off x="7810348" y="3461004"/>
            <a:ext cx="41148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3" name="3. Repairer frame"/>
          <p:cNvSpPr/>
          <p:nvPr/>
        </p:nvSpPr>
        <p:spPr>
          <a:xfrm>
            <a:off x="8221828" y="1143000"/>
            <a:ext cx="3429000" cy="4636008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44" name="3. Repairer title"/>
          <p:cNvSpPr txBox="1"/>
          <p:nvPr/>
        </p:nvSpPr>
        <p:spPr>
          <a:xfrm>
            <a:off x="8221828" y="12344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 Repairer</a:t>
            </a:r>
            <a:endParaRPr lang="en-US" sz="2000" dirty="0"/>
          </a:p>
        </p:txBody>
      </p:sp>
      <p:sp>
        <p:nvSpPr>
          <p:cNvPr id="45" name="3. Repairer card 1"/>
          <p:cNvSpPr/>
          <p:nvPr/>
        </p:nvSpPr>
        <p:spPr>
          <a:xfrm>
            <a:off x="8358988" y="1709928"/>
            <a:ext cx="3154680" cy="749808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6" name="3. Repairer icon 1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9572" y="1947672"/>
            <a:ext cx="274320" cy="274320"/>
          </a:xfrm>
          <a:prstGeom prst="rect">
            <a:avLst/>
          </a:prstGeom>
        </p:spPr>
      </p:pic>
      <p:sp>
        <p:nvSpPr>
          <p:cNvPr id="47" name="3. Repairer card 1 text"/>
          <p:cNvSpPr txBox="1"/>
          <p:nvPr/>
        </p:nvSpPr>
        <p:spPr>
          <a:xfrm>
            <a:off x="8834476" y="1709928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Input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target drawing + candidate's rendered drawing + candidate code</a:t>
            </a:r>
            <a:endParaRPr lang="en-US" sz="1200" dirty="0"/>
          </a:p>
        </p:txBody>
      </p:sp>
      <p:sp>
        <p:nvSpPr>
          <p:cNvPr id="48" name="3. Repairer arrow 1"/>
          <p:cNvSpPr/>
          <p:nvPr/>
        </p:nvSpPr>
        <p:spPr>
          <a:xfrm>
            <a:off x="9936328" y="2459736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9" name="3. Repairer card 2"/>
          <p:cNvSpPr/>
          <p:nvPr/>
        </p:nvSpPr>
        <p:spPr>
          <a:xfrm>
            <a:off x="8358988" y="2596896"/>
            <a:ext cx="3154680" cy="749808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0" name="3. Repairer icon 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9572" y="2834640"/>
            <a:ext cx="274320" cy="274320"/>
          </a:xfrm>
          <a:prstGeom prst="rect">
            <a:avLst/>
          </a:prstGeom>
        </p:spPr>
      </p:pic>
      <p:sp>
        <p:nvSpPr>
          <p:cNvPr id="51" name="3. Repairer card 2 text"/>
          <p:cNvSpPr txBox="1"/>
          <p:nvPr/>
        </p:nvSpPr>
        <p:spPr>
          <a:xfrm>
            <a:off x="8834476" y="2596896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Output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corrected build123d program</a:t>
            </a:r>
            <a:endParaRPr lang="en-US" sz="1200" dirty="0"/>
          </a:p>
        </p:txBody>
      </p:sp>
      <p:sp>
        <p:nvSpPr>
          <p:cNvPr id="52" name="3. Repairer arrow 2"/>
          <p:cNvSpPr/>
          <p:nvPr/>
        </p:nvSpPr>
        <p:spPr>
          <a:xfrm>
            <a:off x="9936328" y="3346704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3" name="3. Repairer card 3"/>
          <p:cNvSpPr/>
          <p:nvPr/>
        </p:nvSpPr>
        <p:spPr>
          <a:xfrm>
            <a:off x="8358988" y="3483864"/>
            <a:ext cx="3154680" cy="749808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4" name="3. Repairer icon 3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9572" y="3721608"/>
            <a:ext cx="274320" cy="274320"/>
          </a:xfrm>
          <a:prstGeom prst="rect">
            <a:avLst/>
          </a:prstGeom>
        </p:spPr>
      </p:pic>
      <p:sp>
        <p:nvSpPr>
          <p:cNvPr id="55" name="3. Repairer card 3 text"/>
          <p:cNvSpPr txBox="1"/>
          <p:nvPr/>
        </p:nvSpPr>
        <p:spPr>
          <a:xfrm>
            <a:off x="8834476" y="3483864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Data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repair pairs (worse → better program), incl. real-part repairs distilled from a DeepSeek-V4.1 search</a:t>
            </a:r>
            <a:endParaRPr lang="en-US" sz="1200" dirty="0"/>
          </a:p>
        </p:txBody>
      </p:sp>
      <p:sp>
        <p:nvSpPr>
          <p:cNvPr id="56" name="3. Repairer arrow 3"/>
          <p:cNvSpPr/>
          <p:nvPr/>
        </p:nvSpPr>
        <p:spPr>
          <a:xfrm>
            <a:off x="9936328" y="4233672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7" name="3. Repairer card 4"/>
          <p:cNvSpPr/>
          <p:nvPr/>
        </p:nvSpPr>
        <p:spPr>
          <a:xfrm>
            <a:off x="8358988" y="4370832"/>
            <a:ext cx="3154680" cy="749808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8" name="3. Repairer icon 4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9572" y="4608576"/>
            <a:ext cx="274320" cy="274320"/>
          </a:xfrm>
          <a:prstGeom prst="rect">
            <a:avLst/>
          </a:prstGeom>
        </p:spPr>
      </p:pic>
      <p:sp>
        <p:nvSpPr>
          <p:cNvPr id="59" name="3. Repairer card 4 text"/>
          <p:cNvSpPr txBox="1"/>
          <p:nvPr/>
        </p:nvSpPr>
        <p:spPr>
          <a:xfrm>
            <a:off x="8834476" y="4370832"/>
            <a:ext cx="2587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Full FT from SFT Model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300 steps · lr 2e-6, batch 64, seq 7,168</a:t>
            </a:r>
            <a:endParaRPr lang="en-US" sz="1200" dirty="0"/>
          </a:p>
        </p:txBody>
      </p:sp>
      <p:sp>
        <p:nvSpPr>
          <p:cNvPr id="60" name="3. Repairer stat frame"/>
          <p:cNvSpPr/>
          <p:nvPr/>
        </p:nvSpPr>
        <p:spPr>
          <a:xfrm>
            <a:off x="8358988" y="5239512"/>
            <a:ext cx="3154680" cy="40233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61" name="3. Repairer stat"/>
          <p:cNvSpPr txBox="1"/>
          <p:nvPr/>
        </p:nvSpPr>
        <p:spPr>
          <a:xfrm>
            <a:off x="8358988" y="523951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IoU 0.721</a:t>
            </a:r>
            <a:endParaRPr lang="en-US" sz="2000" dirty="0"/>
          </a:p>
        </p:txBody>
      </p:sp>
      <p:sp>
        <p:nvSpPr>
          <p:cNvPr id="62" name="footnote"/>
          <p:cNvSpPr txBox="1"/>
          <p:nvPr/>
        </p:nvSpPr>
        <p:spPr>
          <a:xfrm>
            <a:off x="540868" y="5888736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IoU: mean volumetric IoU of the selected candidate (medoid of 8) on 280 held-out real parts; stage 3 = stage-2 generator + three repair chains. Self-improvement: guided repair = rp3 and DeepSeek-V4.1 search scored against ground truth on training parts only.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Figure 4: Repair Loop</a:t>
            </a:r>
            <a:endParaRPr lang="en-US" sz="3600" dirty="0"/>
          </a:p>
        </p:txBody>
      </p:sp>
      <p:sp>
        <p:nvSpPr>
          <p:cNvPr id="3" name="1. Candidate frame"/>
          <p:cNvSpPr/>
          <p:nvPr/>
        </p:nvSpPr>
        <p:spPr>
          <a:xfrm>
            <a:off x="399136" y="1097280"/>
            <a:ext cx="2560320" cy="2624328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4" name="1. Candidate title"/>
          <p:cNvSpPr txBox="1"/>
          <p:nvPr/>
        </p:nvSpPr>
        <p:spPr>
          <a:xfrm>
            <a:off x="399136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 Candidate</a:t>
            </a:r>
            <a:endParaRPr lang="en-US" sz="2000" dirty="0"/>
          </a:p>
        </p:txBody>
      </p:sp>
      <p:sp>
        <p:nvSpPr>
          <p:cNvPr id="5" name="1. Candidate card 1"/>
          <p:cNvSpPr/>
          <p:nvPr/>
        </p:nvSpPr>
        <p:spPr>
          <a:xfrm>
            <a:off x="536296" y="1645920"/>
            <a:ext cx="2286000" cy="5486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1. Candidat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880" y="1783080"/>
            <a:ext cx="274320" cy="274320"/>
          </a:xfrm>
          <a:prstGeom prst="rect">
            <a:avLst/>
          </a:prstGeom>
        </p:spPr>
      </p:pic>
      <p:sp>
        <p:nvSpPr>
          <p:cNvPr id="7" name="1. Candidate card 1 text"/>
          <p:cNvSpPr txBox="1"/>
          <p:nvPr/>
        </p:nvSpPr>
        <p:spPr>
          <a:xfrm>
            <a:off x="1011784" y="164592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Start Program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generator's selected pick</a:t>
            </a:r>
            <a:endParaRPr lang="en-US" sz="1250" dirty="0"/>
          </a:p>
        </p:txBody>
      </p:sp>
      <p:sp>
        <p:nvSpPr>
          <p:cNvPr id="8" name="1. Candidate arrow 1"/>
          <p:cNvSpPr/>
          <p:nvPr/>
        </p:nvSpPr>
        <p:spPr>
          <a:xfrm>
            <a:off x="1679296" y="2194560"/>
            <a:ext cx="0" cy="14630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1. Candidate card 2"/>
          <p:cNvSpPr/>
          <p:nvPr/>
        </p:nvSpPr>
        <p:spPr>
          <a:xfrm>
            <a:off x="536296" y="2340864"/>
            <a:ext cx="2286000" cy="5486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0" name="1. Candidat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80" y="2478024"/>
            <a:ext cx="274320" cy="274320"/>
          </a:xfrm>
          <a:prstGeom prst="rect">
            <a:avLst/>
          </a:prstGeom>
        </p:spPr>
      </p:pic>
      <p:sp>
        <p:nvSpPr>
          <p:cNvPr id="11" name="1. Candidate card 2 text"/>
          <p:cNvSpPr txBox="1"/>
          <p:nvPr/>
        </p:nvSpPr>
        <p:spPr>
          <a:xfrm>
            <a:off x="1011784" y="234086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Execute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build123d → solid</a:t>
            </a:r>
            <a:endParaRPr lang="en-US" sz="1250" dirty="0"/>
          </a:p>
        </p:txBody>
      </p:sp>
      <p:sp>
        <p:nvSpPr>
          <p:cNvPr id="12" name="1. Candidate arrow 2"/>
          <p:cNvSpPr/>
          <p:nvPr/>
        </p:nvSpPr>
        <p:spPr>
          <a:xfrm>
            <a:off x="1679296" y="2889504"/>
            <a:ext cx="0" cy="14630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1. Candidate card 3"/>
          <p:cNvSpPr/>
          <p:nvPr/>
        </p:nvSpPr>
        <p:spPr>
          <a:xfrm>
            <a:off x="536296" y="3035808"/>
            <a:ext cx="2286000" cy="5486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4" name="1. Candidat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80" y="3172968"/>
            <a:ext cx="274320" cy="274320"/>
          </a:xfrm>
          <a:prstGeom prst="rect">
            <a:avLst/>
          </a:prstGeom>
        </p:spPr>
      </p:pic>
      <p:sp>
        <p:nvSpPr>
          <p:cNvPr id="15" name="1. Candidate card 3 text"/>
          <p:cNvSpPr txBox="1"/>
          <p:nvPr/>
        </p:nvSpPr>
        <p:spPr>
          <a:xfrm>
            <a:off x="1011784" y="303580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Draw It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same compiler as the input</a:t>
            </a:r>
            <a:endParaRPr lang="en-US" sz="1250" dirty="0"/>
          </a:p>
        </p:txBody>
      </p:sp>
      <p:sp>
        <p:nvSpPr>
          <p:cNvPr id="16" name="stage arrow 1"/>
          <p:cNvSpPr/>
          <p:nvPr/>
        </p:nvSpPr>
        <p:spPr>
          <a:xfrm>
            <a:off x="2959456" y="2409444"/>
            <a:ext cx="384048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2. Repair frame"/>
          <p:cNvSpPr/>
          <p:nvPr/>
        </p:nvSpPr>
        <p:spPr>
          <a:xfrm>
            <a:off x="3343504" y="1097280"/>
            <a:ext cx="2560320" cy="2624328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8" name="2. Repair title"/>
          <p:cNvSpPr txBox="1"/>
          <p:nvPr/>
        </p:nvSpPr>
        <p:spPr>
          <a:xfrm>
            <a:off x="3343504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 Repair</a:t>
            </a:r>
            <a:endParaRPr lang="en-US" sz="2000" dirty="0"/>
          </a:p>
        </p:txBody>
      </p:sp>
      <p:sp>
        <p:nvSpPr>
          <p:cNvPr id="19" name="2. Repair card 1"/>
          <p:cNvSpPr/>
          <p:nvPr/>
        </p:nvSpPr>
        <p:spPr>
          <a:xfrm>
            <a:off x="3480664" y="1645920"/>
            <a:ext cx="2286000" cy="548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0" name="2. Repair icon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248" y="1783080"/>
            <a:ext cx="274320" cy="274320"/>
          </a:xfrm>
          <a:prstGeom prst="rect">
            <a:avLst/>
          </a:prstGeom>
        </p:spPr>
      </p:pic>
      <p:sp>
        <p:nvSpPr>
          <p:cNvPr id="21" name="2. Repair card 1 text"/>
          <p:cNvSpPr txBox="1"/>
          <p:nvPr/>
        </p:nvSpPr>
        <p:spPr>
          <a:xfrm>
            <a:off x="3956152" y="164592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Repairer Input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both drawings + code</a:t>
            </a:r>
            <a:endParaRPr lang="en-US" sz="1250" dirty="0"/>
          </a:p>
        </p:txBody>
      </p:sp>
      <p:sp>
        <p:nvSpPr>
          <p:cNvPr id="22" name="2. Repair arrow 1"/>
          <p:cNvSpPr/>
          <p:nvPr/>
        </p:nvSpPr>
        <p:spPr>
          <a:xfrm>
            <a:off x="4623664" y="2194560"/>
            <a:ext cx="0" cy="14630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2. Repair card 2"/>
          <p:cNvSpPr/>
          <p:nvPr/>
        </p:nvSpPr>
        <p:spPr>
          <a:xfrm>
            <a:off x="3480664" y="2340864"/>
            <a:ext cx="2286000" cy="548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4" name="2. Repair icon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248" y="2478024"/>
            <a:ext cx="274320" cy="274320"/>
          </a:xfrm>
          <a:prstGeom prst="rect">
            <a:avLst/>
          </a:prstGeom>
        </p:spPr>
      </p:pic>
      <p:sp>
        <p:nvSpPr>
          <p:cNvPr id="25" name="2. Repair card 2 text"/>
          <p:cNvSpPr txBox="1"/>
          <p:nvPr/>
        </p:nvSpPr>
        <p:spPr>
          <a:xfrm>
            <a:off x="3956152" y="234086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Repairer (rp3)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fine-tuned Qwen3.8-27B</a:t>
            </a:r>
            <a:endParaRPr lang="en-US" sz="1250" dirty="0"/>
          </a:p>
        </p:txBody>
      </p:sp>
      <p:sp>
        <p:nvSpPr>
          <p:cNvPr id="26" name="2. Repair arrow 2"/>
          <p:cNvSpPr/>
          <p:nvPr/>
        </p:nvSpPr>
        <p:spPr>
          <a:xfrm>
            <a:off x="4623664" y="2889504"/>
            <a:ext cx="0" cy="14630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7" name="2. Repair card 3"/>
          <p:cNvSpPr/>
          <p:nvPr/>
        </p:nvSpPr>
        <p:spPr>
          <a:xfrm>
            <a:off x="3480664" y="3035808"/>
            <a:ext cx="2286000" cy="548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28" name="2. Repair icon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248" y="3172968"/>
            <a:ext cx="274320" cy="274320"/>
          </a:xfrm>
          <a:prstGeom prst="rect">
            <a:avLst/>
          </a:prstGeom>
        </p:spPr>
      </p:pic>
      <p:sp>
        <p:nvSpPr>
          <p:cNvPr id="29" name="2. Repair card 3 text"/>
          <p:cNvSpPr txBox="1"/>
          <p:nvPr/>
        </p:nvSpPr>
        <p:spPr>
          <a:xfrm>
            <a:off x="3956152" y="303580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16 Repairs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sampled at T = 0.7</a:t>
            </a:r>
            <a:endParaRPr lang="en-US" sz="1250" dirty="0"/>
          </a:p>
        </p:txBody>
      </p:sp>
      <p:sp>
        <p:nvSpPr>
          <p:cNvPr id="30" name="stage arrow 2"/>
          <p:cNvSpPr/>
          <p:nvPr/>
        </p:nvSpPr>
        <p:spPr>
          <a:xfrm>
            <a:off x="5903824" y="2409444"/>
            <a:ext cx="384048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1" name="3. Score frame"/>
          <p:cNvSpPr/>
          <p:nvPr/>
        </p:nvSpPr>
        <p:spPr>
          <a:xfrm>
            <a:off x="6287872" y="1097280"/>
            <a:ext cx="2560320" cy="2624328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32" name="3. Score title"/>
          <p:cNvSpPr txBox="1"/>
          <p:nvPr/>
        </p:nvSpPr>
        <p:spPr>
          <a:xfrm>
            <a:off x="6287872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 Score</a:t>
            </a:r>
            <a:endParaRPr lang="en-US" sz="2000" dirty="0"/>
          </a:p>
        </p:txBody>
      </p:sp>
      <p:sp>
        <p:nvSpPr>
          <p:cNvPr id="33" name="3. Score card 1"/>
          <p:cNvSpPr/>
          <p:nvPr/>
        </p:nvSpPr>
        <p:spPr>
          <a:xfrm>
            <a:off x="6425032" y="1645920"/>
            <a:ext cx="2286000" cy="548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34" name="3. Score icon 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5616" y="1783080"/>
            <a:ext cx="274320" cy="274320"/>
          </a:xfrm>
          <a:prstGeom prst="rect">
            <a:avLst/>
          </a:prstGeom>
        </p:spPr>
      </p:pic>
      <p:sp>
        <p:nvSpPr>
          <p:cNvPr id="35" name="3. Score card 1 text"/>
          <p:cNvSpPr txBox="1"/>
          <p:nvPr/>
        </p:nvSpPr>
        <p:spPr>
          <a:xfrm>
            <a:off x="6900520" y="164592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Execute + Draw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every repair</a:t>
            </a:r>
            <a:endParaRPr lang="en-US" sz="1250" dirty="0"/>
          </a:p>
        </p:txBody>
      </p:sp>
      <p:sp>
        <p:nvSpPr>
          <p:cNvPr id="36" name="3. Score arrow 1"/>
          <p:cNvSpPr/>
          <p:nvPr/>
        </p:nvSpPr>
        <p:spPr>
          <a:xfrm>
            <a:off x="7568032" y="2194560"/>
            <a:ext cx="0" cy="14630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7" name="3. Score card 2"/>
          <p:cNvSpPr/>
          <p:nvPr/>
        </p:nvSpPr>
        <p:spPr>
          <a:xfrm>
            <a:off x="6425032" y="2340864"/>
            <a:ext cx="2286000" cy="548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38" name="3. Score icon 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5616" y="2478024"/>
            <a:ext cx="274320" cy="274320"/>
          </a:xfrm>
          <a:prstGeom prst="rect">
            <a:avLst/>
          </a:prstGeom>
        </p:spPr>
      </p:pic>
      <p:sp>
        <p:nvSpPr>
          <p:cNvPr id="39" name="3. Score card 2 text"/>
          <p:cNvSpPr txBox="1"/>
          <p:nvPr/>
        </p:nvSpPr>
        <p:spPr>
          <a:xfrm>
            <a:off x="6900520" y="234086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Render-Compare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vs target, view by view</a:t>
            </a:r>
            <a:endParaRPr lang="en-US" sz="1250" dirty="0"/>
          </a:p>
        </p:txBody>
      </p:sp>
      <p:sp>
        <p:nvSpPr>
          <p:cNvPr id="40" name="3. Score arrow 2"/>
          <p:cNvSpPr/>
          <p:nvPr/>
        </p:nvSpPr>
        <p:spPr>
          <a:xfrm>
            <a:off x="7568032" y="2889504"/>
            <a:ext cx="0" cy="14630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1" name="3. Score card 3"/>
          <p:cNvSpPr/>
          <p:nvPr/>
        </p:nvSpPr>
        <p:spPr>
          <a:xfrm>
            <a:off x="6425032" y="3035808"/>
            <a:ext cx="2286000" cy="548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2" name="3. Score icon 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5616" y="3172968"/>
            <a:ext cx="274320" cy="274320"/>
          </a:xfrm>
          <a:prstGeom prst="rect">
            <a:avLst/>
          </a:prstGeom>
        </p:spPr>
      </p:pic>
      <p:sp>
        <p:nvSpPr>
          <p:cNvPr id="43" name="3. Score card 3 text"/>
          <p:cNvSpPr txBox="1"/>
          <p:nvPr/>
        </p:nvSpPr>
        <p:spPr>
          <a:xfrm>
            <a:off x="6900520" y="303580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No Ground Truth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label-free; r = 0.67 with IoU</a:t>
            </a:r>
            <a:endParaRPr lang="en-US" sz="1250" dirty="0"/>
          </a:p>
        </p:txBody>
      </p:sp>
      <p:sp>
        <p:nvSpPr>
          <p:cNvPr id="44" name="stage arrow 3"/>
          <p:cNvSpPr/>
          <p:nvPr/>
        </p:nvSpPr>
        <p:spPr>
          <a:xfrm>
            <a:off x="8848192" y="2409444"/>
            <a:ext cx="384048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5" name="4. Accept frame"/>
          <p:cNvSpPr/>
          <p:nvPr/>
        </p:nvSpPr>
        <p:spPr>
          <a:xfrm>
            <a:off x="9232240" y="1097280"/>
            <a:ext cx="2560320" cy="2624328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46" name="4. Accept title"/>
          <p:cNvSpPr txBox="1"/>
          <p:nvPr/>
        </p:nvSpPr>
        <p:spPr>
          <a:xfrm>
            <a:off x="923224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4. Accept</a:t>
            </a:r>
            <a:endParaRPr lang="en-US" sz="2000" dirty="0"/>
          </a:p>
        </p:txBody>
      </p:sp>
      <p:sp>
        <p:nvSpPr>
          <p:cNvPr id="47" name="4. Accept card 1"/>
          <p:cNvSpPr/>
          <p:nvPr/>
        </p:nvSpPr>
        <p:spPr>
          <a:xfrm>
            <a:off x="9369400" y="1645920"/>
            <a:ext cx="2286000" cy="548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8" name="4. Accept icon 1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9984" y="1783080"/>
            <a:ext cx="274320" cy="274320"/>
          </a:xfrm>
          <a:prstGeom prst="rect">
            <a:avLst/>
          </a:prstGeom>
        </p:spPr>
      </p:pic>
      <p:sp>
        <p:nvSpPr>
          <p:cNvPr id="49" name="4. Accept card 1 text"/>
          <p:cNvSpPr txBox="1"/>
          <p:nvPr/>
        </p:nvSpPr>
        <p:spPr>
          <a:xfrm>
            <a:off x="9844888" y="164592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Gate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keep best only if score +0.1</a:t>
            </a:r>
            <a:endParaRPr lang="en-US" sz="1250" dirty="0"/>
          </a:p>
        </p:txBody>
      </p:sp>
      <p:sp>
        <p:nvSpPr>
          <p:cNvPr id="50" name="4. Accept arrow 1"/>
          <p:cNvSpPr/>
          <p:nvPr/>
        </p:nvSpPr>
        <p:spPr>
          <a:xfrm>
            <a:off x="10512400" y="2194560"/>
            <a:ext cx="0" cy="14630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1" name="4. Accept card 2"/>
          <p:cNvSpPr/>
          <p:nvPr/>
        </p:nvSpPr>
        <p:spPr>
          <a:xfrm>
            <a:off x="9369400" y="2340864"/>
            <a:ext cx="2286000" cy="548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2" name="4. Accept icon 2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9984" y="2478024"/>
            <a:ext cx="274320" cy="274320"/>
          </a:xfrm>
          <a:prstGeom prst="rect">
            <a:avLst/>
          </a:prstGeom>
        </p:spPr>
      </p:pic>
      <p:sp>
        <p:nvSpPr>
          <p:cNvPr id="53" name="4. Accept card 2 text"/>
          <p:cNvSpPr txBox="1"/>
          <p:nvPr/>
        </p:nvSpPr>
        <p:spPr>
          <a:xfrm>
            <a:off x="9844888" y="234086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Up to 6 Rounds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restart from last accepted</a:t>
            </a:r>
            <a:endParaRPr lang="en-US" sz="1250" dirty="0"/>
          </a:p>
        </p:txBody>
      </p:sp>
      <p:sp>
        <p:nvSpPr>
          <p:cNvPr id="54" name="4. Accept arrow 2"/>
          <p:cNvSpPr/>
          <p:nvPr/>
        </p:nvSpPr>
        <p:spPr>
          <a:xfrm>
            <a:off x="10512400" y="2889504"/>
            <a:ext cx="0" cy="146304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5" name="4. Accept card 3"/>
          <p:cNvSpPr/>
          <p:nvPr/>
        </p:nvSpPr>
        <p:spPr>
          <a:xfrm>
            <a:off x="9369400" y="3035808"/>
            <a:ext cx="2286000" cy="54864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6" name="4. Accept icon 3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69984" y="3172968"/>
            <a:ext cx="274320" cy="274320"/>
          </a:xfrm>
          <a:prstGeom prst="rect">
            <a:avLst/>
          </a:prstGeom>
        </p:spPr>
      </p:pic>
      <p:sp>
        <p:nvSpPr>
          <p:cNvPr id="57" name="4. Accept card 3 text"/>
          <p:cNvSpPr txBox="1"/>
          <p:nvPr/>
        </p:nvSpPr>
        <p:spPr>
          <a:xfrm>
            <a:off x="9844888" y="303580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3 Chains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top-3 starts, pick best score</a:t>
            </a:r>
            <a:endParaRPr lang="en-US" sz="1250" dirty="0"/>
          </a:p>
        </p:txBody>
      </p:sp>
      <p:sp>
        <p:nvSpPr>
          <p:cNvPr id="58" name="loop down"/>
          <p:cNvSpPr/>
          <p:nvPr/>
        </p:nvSpPr>
        <p:spPr>
          <a:xfrm>
            <a:off x="10512400" y="3721608"/>
            <a:ext cx="0" cy="256032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</a:ln>
        </p:spPr>
      </p:sp>
      <p:sp>
        <p:nvSpPr>
          <p:cNvPr id="59" name="loop across"/>
          <p:cNvSpPr/>
          <p:nvPr/>
        </p:nvSpPr>
        <p:spPr>
          <a:xfrm flipH="1">
            <a:off x="1679296" y="3977640"/>
            <a:ext cx="8833104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</a:ln>
        </p:spPr>
      </p:sp>
      <p:sp>
        <p:nvSpPr>
          <p:cNvPr id="60" name="loop up"/>
          <p:cNvSpPr/>
          <p:nvPr/>
        </p:nvSpPr>
        <p:spPr>
          <a:xfrm flipV="1">
            <a:off x="1679296" y="3721608"/>
            <a:ext cx="0" cy="256032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1" name="loop label"/>
          <p:cNvSpPr txBox="1"/>
          <p:nvPr/>
        </p:nvSpPr>
        <p:spPr>
          <a:xfrm>
            <a:off x="1953616" y="40142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next round: accepted program becomes the new candidate</a:t>
            </a:r>
            <a:endParaRPr lang="en-US" sz="1100" dirty="0"/>
          </a:p>
        </p:txBody>
      </p:sp>
      <p:sp>
        <p:nvSpPr>
          <p:cNvPr id="62" name="example title"/>
          <p:cNvSpPr txBox="1"/>
          <p:nvPr/>
        </p:nvSpPr>
        <p:spPr>
          <a:xfrm>
            <a:off x="399136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Example: handwheel (real part)</a:t>
            </a:r>
            <a:endParaRPr lang="en-US" sz="1400" dirty="0"/>
          </a:p>
        </p:txBody>
      </p:sp>
      <p:pic>
        <p:nvPicPr>
          <p:cNvPr id="63" name="example drawing" descr="/projects/illinois/eng/ece/wpk/bimrose2/drawing_vlm/results/figures/results_deck/repair_ex/F_73525_drawing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0442" y="4672584"/>
            <a:ext cx="2100507" cy="1325880"/>
          </a:xfrm>
          <a:prstGeom prst="rect">
            <a:avLst/>
          </a:prstGeom>
        </p:spPr>
      </p:pic>
      <p:sp>
        <p:nvSpPr>
          <p:cNvPr id="64" name="example drawing label"/>
          <p:cNvSpPr txBox="1"/>
          <p:nvPr/>
        </p:nvSpPr>
        <p:spPr>
          <a:xfrm>
            <a:off x="399136" y="6035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Target drawing</a:t>
            </a:r>
            <a:endParaRPr lang="en-US" sz="1100" dirty="0"/>
          </a:p>
        </p:txBody>
      </p:sp>
      <p:pic>
        <p:nvPicPr>
          <p:cNvPr id="65" name="example Start  IoU 0.52" descr="/projects/illinois/eng/ece/wpk/bimrose2/drawing_vlm/results/figures/results_deck/repair_ex/F_73525_step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00445" y="4672584"/>
            <a:ext cx="1003821" cy="1325880"/>
          </a:xfrm>
          <a:prstGeom prst="rect">
            <a:avLst/>
          </a:prstGeom>
        </p:spPr>
      </p:pic>
      <p:sp>
        <p:nvSpPr>
          <p:cNvPr id="66" name="example label 1"/>
          <p:cNvSpPr txBox="1"/>
          <p:nvPr/>
        </p:nvSpPr>
        <p:spPr>
          <a:xfrm>
            <a:off x="2547976" y="60350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Start  IoU 0.52</a:t>
            </a:r>
            <a:endParaRPr lang="en-US" sz="1100" dirty="0"/>
          </a:p>
        </p:txBody>
      </p:sp>
      <p:sp>
        <p:nvSpPr>
          <p:cNvPr id="67" name="example arrow 1"/>
          <p:cNvSpPr/>
          <p:nvPr/>
        </p:nvSpPr>
        <p:spPr>
          <a:xfrm>
            <a:off x="3919576" y="5335524"/>
            <a:ext cx="29260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pic>
        <p:nvPicPr>
          <p:cNvPr id="68" name="example Round 1  IoU 0.35" descr="/projects/illinois/eng/ece/wpk/bimrose2/drawing_vlm/results/figures/results_deck/repair_ex/F_73525_step1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25402" y="4672584"/>
            <a:ext cx="1008003" cy="1325880"/>
          </a:xfrm>
          <a:prstGeom prst="rect">
            <a:avLst/>
          </a:prstGeom>
        </p:spPr>
      </p:pic>
      <p:sp>
        <p:nvSpPr>
          <p:cNvPr id="69" name="example label 2"/>
          <p:cNvSpPr txBox="1"/>
          <p:nvPr/>
        </p:nvSpPr>
        <p:spPr>
          <a:xfrm>
            <a:off x="4075024" y="60350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Round 1  IoU 0.35</a:t>
            </a:r>
            <a:endParaRPr lang="en-US" sz="1100" dirty="0"/>
          </a:p>
        </p:txBody>
      </p:sp>
      <p:sp>
        <p:nvSpPr>
          <p:cNvPr id="70" name="example arrow 2"/>
          <p:cNvSpPr/>
          <p:nvPr/>
        </p:nvSpPr>
        <p:spPr>
          <a:xfrm>
            <a:off x="5446624" y="5335524"/>
            <a:ext cx="29260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pic>
        <p:nvPicPr>
          <p:cNvPr id="71" name="example Round 3  IoU 0.93" descr="/projects/illinois/eng/ece/wpk/bimrose2/drawing_vlm/results/figures/results_deck/repair_ex/F_73525_step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52450" y="4672584"/>
            <a:ext cx="1008003" cy="1325880"/>
          </a:xfrm>
          <a:prstGeom prst="rect">
            <a:avLst/>
          </a:prstGeom>
        </p:spPr>
      </p:pic>
      <p:sp>
        <p:nvSpPr>
          <p:cNvPr id="72" name="example label 3"/>
          <p:cNvSpPr txBox="1"/>
          <p:nvPr/>
        </p:nvSpPr>
        <p:spPr>
          <a:xfrm>
            <a:off x="5602072" y="60350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Round 3  IoU 0.93</a:t>
            </a:r>
            <a:endParaRPr lang="en-US" sz="1100" dirty="0"/>
          </a:p>
        </p:txBody>
      </p:sp>
      <p:pic>
        <p:nvPicPr>
          <p:cNvPr id="73" name="example Ground truth" descr="/projects/illinois/eng/ece/wpk/bimrose2/drawing_vlm/results/figures/results_deck/repair_ex/F_73525_g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45136" y="4672584"/>
            <a:ext cx="1005912" cy="1325880"/>
          </a:xfrm>
          <a:prstGeom prst="rect">
            <a:avLst/>
          </a:prstGeom>
        </p:spPr>
      </p:pic>
      <p:sp>
        <p:nvSpPr>
          <p:cNvPr id="74" name="example label 4"/>
          <p:cNvSpPr txBox="1"/>
          <p:nvPr/>
        </p:nvSpPr>
        <p:spPr>
          <a:xfrm>
            <a:off x="7293712" y="60350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Ground truth</a:t>
            </a:r>
            <a:endParaRPr lang="en-US" sz="1100" dirty="0"/>
          </a:p>
        </p:txBody>
      </p:sp>
      <p:sp>
        <p:nvSpPr>
          <p:cNvPr id="75" name="stat 1 frame"/>
          <p:cNvSpPr/>
          <p:nvPr/>
        </p:nvSpPr>
        <p:spPr>
          <a:xfrm>
            <a:off x="9460840" y="4672584"/>
            <a:ext cx="2331720" cy="658368"/>
          </a:xfrm>
          <a:prstGeom prst="rect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76" name="stat 1"/>
          <p:cNvSpPr txBox="1"/>
          <p:nvPr/>
        </p:nvSpPr>
        <p:spPr>
          <a:xfrm>
            <a:off x="9460840" y="467258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0.537 → 0.695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real parts, e55 + repair</a:t>
            </a:r>
            <a:endParaRPr lang="en-US" sz="1800" dirty="0"/>
          </a:p>
        </p:txBody>
      </p:sp>
      <p:sp>
        <p:nvSpPr>
          <p:cNvPr id="77" name="stat 2 frame"/>
          <p:cNvSpPr/>
          <p:nvPr/>
        </p:nvSpPr>
        <p:spPr>
          <a:xfrm>
            <a:off x="9460840" y="5458968"/>
            <a:ext cx="2331720" cy="658368"/>
          </a:xfrm>
          <a:prstGeom prst="rect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78" name="stat 2"/>
          <p:cNvSpPr txBox="1"/>
          <p:nvPr/>
        </p:nvSpPr>
        <p:spPr>
          <a:xfrm>
            <a:off x="9460840" y="54589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0.925 → 0.929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synthetic parts: safe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awing to CAD">
  <a:themeElements>
    <a:clrScheme name="Drawing to CAD">
      <a:dk1>
        <a:srgbClr val="000000"/>
      </a:dk1>
      <a:lt1>
        <a:srgbClr val="FFFFFF"/>
      </a:lt1>
      <a:dk2>
        <a:srgbClr val="13294B"/>
      </a:dk2>
      <a:lt2>
        <a:srgbClr val="EEF2F8"/>
      </a:lt2>
      <a:accent1>
        <a:srgbClr val="2F6FD6"/>
      </a:accent1>
      <a:accent2>
        <a:srgbClr val="8A8F99"/>
      </a:accent2>
      <a:accent3>
        <a:srgbClr val="5A5F69"/>
      </a:accent3>
      <a:accent4>
        <a:srgbClr val="D3DEE0"/>
      </a:accent4>
      <a:accent5>
        <a:srgbClr val="EEF4F0"/>
      </a:accent5>
      <a:accent6>
        <a:srgbClr val="D6DEEA"/>
      </a:accent6>
      <a:hlink>
        <a:srgbClr val="2F6FD6"/>
      </a:hlink>
      <a:folHlink>
        <a:srgbClr val="5A5F69"/>
      </a:folHlink>
    </a:clrScheme>
    <a:fontScheme name="Drawing to CA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 tuning and repair loop</dc:title>
  <dc:subject>PptxGenJS Presentation</dc:subject>
  <dc:creator>PptxGenJS</dc:creator>
  <cp:lastModifiedBy>PptxGenJS</cp:lastModifiedBy>
  <cp:revision>1</cp:revision>
  <dcterms:created xsi:type="dcterms:W3CDTF">2026-10-13T20:07:43Z</dcterms:created>
  <dcterms:modified xsi:type="dcterms:W3CDTF">2026-10-13T20:07:43Z</dcterms:modified>
</cp:coreProperties>
</file>