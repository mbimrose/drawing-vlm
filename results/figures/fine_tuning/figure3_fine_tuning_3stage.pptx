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 B: 280 real parts (171 Fusion 360 + 109 ABC), frozen before any model saw it, never used to pick checkpoints. Vote (medoid of 8): base Qwen3.8-27B 0.082 (6% of programs run), SFT e55 0.509, GRPO with 2 self-improvement rounds (rft2_rl s60) 0.665 (best of 8: 0.595 -&gt; 0.732). Plain GRPO without them (ent_t10 s120, best of 3 seeds) 0.640; the self-improvement rounds add +0.024 [+0.008, +0.041]. Each round: the current policy samples 16 programs on hard training parts, rp3 repair search + DeepSeek-V4.1-Flash teacher improve them using ground truth, the best (IoU &gt;= 0.75) are fine-tuned into the LoRA, then short GRPO; round 2 kept 5,502 programs on 8,121 parts. Stage 4: rft2_rl s60, K=16, verifier + render-compare selection, 3 rp3 repair chains (16 repairs x 6 rounds, render-compare gate, margin 0.1), multi-start pick = 0.721; the same repair on e55 gives 0.664 (+0.057 [+0.036, +0.078]). rp3 = full fine-tune continued from e55 (300 steps, lr 2e-6) on repair pairs (target drawing + candidate's rendered drawing + code -&gt; better program), incl. real-part repairs from a DeepSeek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Figure 3: Fine Tuning</a:t>
            </a:r>
            <a:endParaRPr lang="en-US" sz="3600" dirty="0"/>
          </a:p>
        </p:txBody>
      </p:sp>
      <p:sp>
        <p:nvSpPr>
          <p:cNvPr id="3" name="stage 1 frame"/>
          <p:cNvSpPr/>
          <p:nvPr/>
        </p:nvSpPr>
        <p:spPr>
          <a:xfrm>
            <a:off x="929488" y="1234440"/>
            <a:ext cx="3017520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" name="stage 1 title"/>
          <p:cNvSpPr txBox="1"/>
          <p:nvPr/>
        </p:nvSpPr>
        <p:spPr>
          <a:xfrm>
            <a:off x="929488" y="1344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Supervised FT</a:t>
            </a:r>
            <a:endParaRPr lang="en-US" sz="2000" dirty="0"/>
          </a:p>
        </p:txBody>
      </p:sp>
      <p:sp>
        <p:nvSpPr>
          <p:cNvPr id="5" name="stage 1 card 1"/>
          <p:cNvSpPr/>
          <p:nvPr/>
        </p:nvSpPr>
        <p:spPr>
          <a:xfrm>
            <a:off x="1066648" y="1828800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stage 1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376" y="1993392"/>
            <a:ext cx="274320" cy="274320"/>
          </a:xfrm>
          <a:prstGeom prst="rect">
            <a:avLst/>
          </a:prstGeom>
        </p:spPr>
      </p:pic>
      <p:sp>
        <p:nvSpPr>
          <p:cNvPr id="7" name="stage 1 card 1 text"/>
          <p:cNvSpPr txBox="1"/>
          <p:nvPr/>
        </p:nvSpPr>
        <p:spPr>
          <a:xfrm>
            <a:off x="1542136" y="1828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Drawing → Code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~500k training pairs</a:t>
            </a:r>
            <a:endParaRPr lang="en-US" sz="1250" dirty="0"/>
          </a:p>
        </p:txBody>
      </p:sp>
      <p:sp>
        <p:nvSpPr>
          <p:cNvPr id="8" name="stage 1 arrow 1"/>
          <p:cNvSpPr/>
          <p:nvPr/>
        </p:nvSpPr>
        <p:spPr>
          <a:xfrm>
            <a:off x="2438248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tage 1 card 2"/>
          <p:cNvSpPr/>
          <p:nvPr/>
        </p:nvSpPr>
        <p:spPr>
          <a:xfrm>
            <a:off x="1066648" y="2615184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stage 1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76" y="2779776"/>
            <a:ext cx="274320" cy="274320"/>
          </a:xfrm>
          <a:prstGeom prst="rect">
            <a:avLst/>
          </a:prstGeom>
        </p:spPr>
      </p:pic>
      <p:sp>
        <p:nvSpPr>
          <p:cNvPr id="11" name="stage 1 card 2 text"/>
          <p:cNvSpPr txBox="1"/>
          <p:nvPr/>
        </p:nvSpPr>
        <p:spPr>
          <a:xfrm>
            <a:off x="1542136" y="26151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Qwen 3.8-27B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full fine-tune</a:t>
            </a:r>
            <a:endParaRPr lang="en-US" sz="1250" dirty="0"/>
          </a:p>
        </p:txBody>
      </p:sp>
      <p:sp>
        <p:nvSpPr>
          <p:cNvPr id="12" name="stage 1 arrow 2"/>
          <p:cNvSpPr/>
          <p:nvPr/>
        </p:nvSpPr>
        <p:spPr>
          <a:xfrm>
            <a:off x="2438248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tage 1 card 3"/>
          <p:cNvSpPr/>
          <p:nvPr/>
        </p:nvSpPr>
        <p:spPr>
          <a:xfrm>
            <a:off x="1066648" y="3401568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stage 1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76" y="3566160"/>
            <a:ext cx="274320" cy="274320"/>
          </a:xfrm>
          <a:prstGeom prst="rect">
            <a:avLst/>
          </a:prstGeom>
        </p:spPr>
      </p:pic>
      <p:sp>
        <p:nvSpPr>
          <p:cNvPr id="15" name="stage 1 card 3 text"/>
          <p:cNvSpPr txBox="1"/>
          <p:nvPr/>
        </p:nvSpPr>
        <p:spPr>
          <a:xfrm>
            <a:off x="1542136" y="3401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Self-Training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keep own IoU ≥ 0.8</a:t>
            </a:r>
            <a:endParaRPr lang="en-US" sz="1250" dirty="0"/>
          </a:p>
        </p:txBody>
      </p:sp>
      <p:sp>
        <p:nvSpPr>
          <p:cNvPr id="16" name="stage 1 stat frame"/>
          <p:cNvSpPr/>
          <p:nvPr/>
        </p:nvSpPr>
        <p:spPr>
          <a:xfrm>
            <a:off x="1066648" y="4133088"/>
            <a:ext cx="274320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7" name="stage 1 stat"/>
          <p:cNvSpPr txBox="1"/>
          <p:nvPr/>
        </p:nvSpPr>
        <p:spPr>
          <a:xfrm>
            <a:off x="1066648" y="41330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0.509</a:t>
            </a:r>
            <a:endParaRPr lang="en-US" sz="2000" dirty="0"/>
          </a:p>
        </p:txBody>
      </p:sp>
      <p:sp>
        <p:nvSpPr>
          <p:cNvPr id="18" name="stage arrow 1"/>
          <p:cNvSpPr/>
          <p:nvPr/>
        </p:nvSpPr>
        <p:spPr>
          <a:xfrm>
            <a:off x="3947008" y="2948940"/>
            <a:ext cx="64008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tage 2 frame"/>
          <p:cNvSpPr/>
          <p:nvPr/>
        </p:nvSpPr>
        <p:spPr>
          <a:xfrm>
            <a:off x="4587088" y="1234440"/>
            <a:ext cx="3017520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0" name="stage 2 title"/>
          <p:cNvSpPr txBox="1"/>
          <p:nvPr/>
        </p:nvSpPr>
        <p:spPr>
          <a:xfrm>
            <a:off x="4587088" y="1344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GRPO</a:t>
            </a:r>
            <a:endParaRPr lang="en-US" sz="2000" dirty="0"/>
          </a:p>
        </p:txBody>
      </p:sp>
      <p:sp>
        <p:nvSpPr>
          <p:cNvPr id="21" name="stage 2 card 1"/>
          <p:cNvSpPr/>
          <p:nvPr/>
        </p:nvSpPr>
        <p:spPr>
          <a:xfrm>
            <a:off x="4724248" y="1828800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2" name="stage 2 icon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76" y="1993392"/>
            <a:ext cx="274320" cy="274320"/>
          </a:xfrm>
          <a:prstGeom prst="rect">
            <a:avLst/>
          </a:prstGeom>
        </p:spPr>
      </p:pic>
      <p:sp>
        <p:nvSpPr>
          <p:cNvPr id="23" name="stage 2 card 1 text"/>
          <p:cNvSpPr txBox="1"/>
          <p:nvPr/>
        </p:nvSpPr>
        <p:spPr>
          <a:xfrm>
            <a:off x="5199736" y="1828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Sample 8 Programs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per drawing</a:t>
            </a:r>
            <a:endParaRPr lang="en-US" sz="1250" dirty="0"/>
          </a:p>
        </p:txBody>
      </p:sp>
      <p:sp>
        <p:nvSpPr>
          <p:cNvPr id="24" name="stage 2 arrow 1"/>
          <p:cNvSpPr/>
          <p:nvPr/>
        </p:nvSpPr>
        <p:spPr>
          <a:xfrm>
            <a:off x="6095848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tage 2 card 2"/>
          <p:cNvSpPr/>
          <p:nvPr/>
        </p:nvSpPr>
        <p:spPr>
          <a:xfrm>
            <a:off x="4724248" y="2615184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6" name="stage 2 icon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976" y="2779776"/>
            <a:ext cx="274320" cy="274320"/>
          </a:xfrm>
          <a:prstGeom prst="rect">
            <a:avLst/>
          </a:prstGeom>
        </p:spPr>
      </p:pic>
      <p:sp>
        <p:nvSpPr>
          <p:cNvPr id="27" name="stage 2 card 2 text"/>
          <p:cNvSpPr txBox="1"/>
          <p:nvPr/>
        </p:nvSpPr>
        <p:spPr>
          <a:xfrm>
            <a:off x="5199736" y="26151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Reward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IoU vs ground truth</a:t>
            </a:r>
            <a:endParaRPr lang="en-US" sz="1250" dirty="0"/>
          </a:p>
        </p:txBody>
      </p:sp>
      <p:sp>
        <p:nvSpPr>
          <p:cNvPr id="28" name="stage 2 arrow 2"/>
          <p:cNvSpPr/>
          <p:nvPr/>
        </p:nvSpPr>
        <p:spPr>
          <a:xfrm>
            <a:off x="6095848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stage 2 card 3"/>
          <p:cNvSpPr/>
          <p:nvPr/>
        </p:nvSpPr>
        <p:spPr>
          <a:xfrm>
            <a:off x="4724248" y="3401568"/>
            <a:ext cx="274320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0" name="stage 2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976" y="3566160"/>
            <a:ext cx="274320" cy="274320"/>
          </a:xfrm>
          <a:prstGeom prst="rect">
            <a:avLst/>
          </a:prstGeom>
        </p:spPr>
      </p:pic>
      <p:sp>
        <p:nvSpPr>
          <p:cNvPr id="31" name="stage 2 card 3 text"/>
          <p:cNvSpPr txBox="1"/>
          <p:nvPr/>
        </p:nvSpPr>
        <p:spPr>
          <a:xfrm>
            <a:off x="5199736" y="3401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Update LoRA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+ 2 self-improvement rounds</a:t>
            </a:r>
            <a:endParaRPr lang="en-US" sz="1250" dirty="0"/>
          </a:p>
        </p:txBody>
      </p:sp>
      <p:sp>
        <p:nvSpPr>
          <p:cNvPr id="32" name="stage 2 stat frame"/>
          <p:cNvSpPr/>
          <p:nvPr/>
        </p:nvSpPr>
        <p:spPr>
          <a:xfrm>
            <a:off x="4724248" y="4133088"/>
            <a:ext cx="274320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3" name="stage 2 stat"/>
          <p:cNvSpPr txBox="1"/>
          <p:nvPr/>
        </p:nvSpPr>
        <p:spPr>
          <a:xfrm>
            <a:off x="4724248" y="41330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0.665</a:t>
            </a:r>
            <a:endParaRPr lang="en-US" sz="2000" dirty="0"/>
          </a:p>
        </p:txBody>
      </p:sp>
      <p:sp>
        <p:nvSpPr>
          <p:cNvPr id="34" name="stage arrow 2"/>
          <p:cNvSpPr/>
          <p:nvPr/>
        </p:nvSpPr>
        <p:spPr>
          <a:xfrm>
            <a:off x="7604608" y="2948940"/>
            <a:ext cx="64008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stage 3 frame"/>
          <p:cNvSpPr/>
          <p:nvPr/>
        </p:nvSpPr>
        <p:spPr>
          <a:xfrm>
            <a:off x="8244688" y="1234440"/>
            <a:ext cx="3017520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6" name="stage 3 title"/>
          <p:cNvSpPr txBox="1"/>
          <p:nvPr/>
        </p:nvSpPr>
        <p:spPr>
          <a:xfrm>
            <a:off x="8244688" y="1344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Repairer</a:t>
            </a:r>
            <a:endParaRPr lang="en-US" sz="2000" dirty="0"/>
          </a:p>
        </p:txBody>
      </p:sp>
      <p:sp>
        <p:nvSpPr>
          <p:cNvPr id="37" name="stage 3 card 1"/>
          <p:cNvSpPr/>
          <p:nvPr/>
        </p:nvSpPr>
        <p:spPr>
          <a:xfrm>
            <a:off x="8381848" y="1828800"/>
            <a:ext cx="2743200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8" name="stage 3 icon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76" y="1993392"/>
            <a:ext cx="274320" cy="274320"/>
          </a:xfrm>
          <a:prstGeom prst="rect">
            <a:avLst/>
          </a:prstGeom>
        </p:spPr>
      </p:pic>
      <p:sp>
        <p:nvSpPr>
          <p:cNvPr id="39" name="stage 3 card 1 text"/>
          <p:cNvSpPr txBox="1"/>
          <p:nvPr/>
        </p:nvSpPr>
        <p:spPr>
          <a:xfrm>
            <a:off x="8857336" y="1828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Two Drawings In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target + candidate render</a:t>
            </a:r>
            <a:endParaRPr lang="en-US" sz="1250" dirty="0"/>
          </a:p>
        </p:txBody>
      </p:sp>
      <p:sp>
        <p:nvSpPr>
          <p:cNvPr id="40" name="stage 3 arrow 1"/>
          <p:cNvSpPr/>
          <p:nvPr/>
        </p:nvSpPr>
        <p:spPr>
          <a:xfrm>
            <a:off x="9753448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stage 3 card 2"/>
          <p:cNvSpPr/>
          <p:nvPr/>
        </p:nvSpPr>
        <p:spPr>
          <a:xfrm>
            <a:off x="8381848" y="2615184"/>
            <a:ext cx="2743200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2" name="stage 3 icon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576" y="2779776"/>
            <a:ext cx="274320" cy="274320"/>
          </a:xfrm>
          <a:prstGeom prst="rect">
            <a:avLst/>
          </a:prstGeom>
        </p:spPr>
      </p:pic>
      <p:sp>
        <p:nvSpPr>
          <p:cNvPr id="43" name="stage 3 card 2 text"/>
          <p:cNvSpPr txBox="1"/>
          <p:nvPr/>
        </p:nvSpPr>
        <p:spPr>
          <a:xfrm>
            <a:off x="8857336" y="26151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Corrected Program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real-part repair pairs</a:t>
            </a:r>
            <a:endParaRPr lang="en-US" sz="1250" dirty="0"/>
          </a:p>
        </p:txBody>
      </p:sp>
      <p:sp>
        <p:nvSpPr>
          <p:cNvPr id="44" name="stage 3 arrow 2"/>
          <p:cNvSpPr/>
          <p:nvPr/>
        </p:nvSpPr>
        <p:spPr>
          <a:xfrm>
            <a:off x="9753448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stage 3 card 3"/>
          <p:cNvSpPr/>
          <p:nvPr/>
        </p:nvSpPr>
        <p:spPr>
          <a:xfrm>
            <a:off x="8381848" y="3401568"/>
            <a:ext cx="2743200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6" name="stage 3 icon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576" y="3566160"/>
            <a:ext cx="274320" cy="274320"/>
          </a:xfrm>
          <a:prstGeom prst="rect">
            <a:avLst/>
          </a:prstGeom>
        </p:spPr>
      </p:pic>
      <p:sp>
        <p:nvSpPr>
          <p:cNvPr id="47" name="stage 3 card 3 text"/>
          <p:cNvSpPr txBox="1"/>
          <p:nvPr/>
        </p:nvSpPr>
        <p:spPr>
          <a:xfrm>
            <a:off x="8857336" y="3401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Full Fine-Tune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from the SFT model</a:t>
            </a:r>
            <a:endParaRPr lang="en-US" sz="1250" dirty="0"/>
          </a:p>
        </p:txBody>
      </p:sp>
      <p:sp>
        <p:nvSpPr>
          <p:cNvPr id="48" name="stage 3 stat frame"/>
          <p:cNvSpPr/>
          <p:nvPr/>
        </p:nvSpPr>
        <p:spPr>
          <a:xfrm>
            <a:off x="8381848" y="4133088"/>
            <a:ext cx="274320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9" name="stage 3 stat"/>
          <p:cNvSpPr txBox="1"/>
          <p:nvPr/>
        </p:nvSpPr>
        <p:spPr>
          <a:xfrm>
            <a:off x="8381848" y="41330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0.721</a:t>
            </a:r>
            <a:endParaRPr lang="en-US" sz="2000" dirty="0"/>
          </a:p>
        </p:txBody>
      </p:sp>
      <p:sp>
        <p:nvSpPr>
          <p:cNvPr id="50" name="footnote"/>
          <p:cNvSpPr txBox="1"/>
          <p:nvPr/>
        </p:nvSpPr>
        <p:spPr>
          <a:xfrm>
            <a:off x="929488" y="48280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IoU: mean volumetric IoU of the selected candidate (medoid of 8) on 280 held-out real parts. Self-improvement: search hard training parts, fine-tune on the best programs found, short GRPO. Stage 3: full system, the stage-2 generator plus three repair chains.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EEF2F8"/>
      </a:lt2>
      <a:accent1>
        <a:srgbClr val="2F6FD6"/>
      </a:accent1>
      <a:accent2>
        <a:srgbClr val="8A8F99"/>
      </a:accent2>
      <a:accent3>
        <a:srgbClr val="5A5F69"/>
      </a:accent3>
      <a:accent4>
        <a:srgbClr val="D3DEE0"/>
      </a:accent4>
      <a:accent5>
        <a:srgbClr val="EEF4F0"/>
      </a:accent5>
      <a:accent6>
        <a:srgbClr val="D6DEEA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3: Fine Tuning</dc:title>
  <dc:subject>PptxGenJS Presentation</dc:subject>
  <dc:creator>PptxGenJS</dc:creator>
  <cp:lastModifiedBy>PptxGenJS</cp:lastModifiedBy>
  <cp:revision>1</cp:revision>
  <dcterms:created xsi:type="dcterms:W3CDTF">2026-10-13T17:59:36Z</dcterms:created>
  <dcterms:modified xsi:type="dcterms:W3CDTF">2026-10-13T17:59:36Z</dcterms:modified>
</cp:coreProperties>
</file>